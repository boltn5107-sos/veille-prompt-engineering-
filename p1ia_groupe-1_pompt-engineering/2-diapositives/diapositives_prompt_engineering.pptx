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91440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Calibri"/>
              </a:defRPr>
            </a:pPr>
            <a:r>
              <a:t>Veille Prompt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0">
                <a:solidFill>
                  <a:srgbClr val="BED3E6"/>
                </a:solidFill>
                <a:latin typeface="Calibri"/>
              </a:defRPr>
            </a:pPr>
            <a:r>
              <a:t>Mieux rédiger pour mieux générer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9768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P1IA  –  Groupe 1  – 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Sommaire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4455"/>
                </a:solidFill>
                <a:latin typeface="Calibri"/>
              </a:defRPr>
            </a:pPr>
            <a:r>
              <a:t>•  1. Prérequis sur les LLM</a:t>
            </a:r>
          </a:p>
          <a:p>
            <a:pPr>
              <a:spcAft>
                <a:spcPts val="800"/>
              </a:spcAft>
              <a:defRPr sz="2000">
                <a:solidFill>
                  <a:srgbClr val="334455"/>
                </a:solidFill>
                <a:latin typeface="Calibri"/>
              </a:defRPr>
            </a:pPr>
            <a:r>
              <a:t>•  2. Introduction au Prompt Engineering</a:t>
            </a:r>
          </a:p>
          <a:p>
            <a:pPr>
              <a:spcAft>
                <a:spcPts val="800"/>
              </a:spcAft>
              <a:defRPr sz="2000">
                <a:solidFill>
                  <a:srgbClr val="334455"/>
                </a:solidFill>
                <a:latin typeface="Calibri"/>
              </a:defRPr>
            </a:pPr>
            <a:r>
              <a:t>•  3. Structure d'un prompt</a:t>
            </a:r>
          </a:p>
          <a:p>
            <a:pPr>
              <a:spcAft>
                <a:spcPts val="800"/>
              </a:spcAft>
              <a:defRPr sz="2000">
                <a:solidFill>
                  <a:srgbClr val="334455"/>
                </a:solidFill>
                <a:latin typeface="Calibri"/>
              </a:defRPr>
            </a:pPr>
            <a:r>
              <a:t>•  4. Techniques de prompting</a:t>
            </a:r>
          </a:p>
          <a:p>
            <a:pPr>
              <a:spcAft>
                <a:spcPts val="800"/>
              </a:spcAft>
              <a:defRPr sz="2000">
                <a:solidFill>
                  <a:srgbClr val="334455"/>
                </a:solidFill>
                <a:latin typeface="Calibri"/>
              </a:defRPr>
            </a:pPr>
            <a:r>
              <a:t>•  5. Prompt Engineering et raisonnement</a:t>
            </a:r>
          </a:p>
          <a:p>
            <a:pPr>
              <a:spcAft>
                <a:spcPts val="800"/>
              </a:spcAft>
              <a:defRPr sz="2000">
                <a:solidFill>
                  <a:srgbClr val="334455"/>
                </a:solidFill>
                <a:latin typeface="Calibri"/>
              </a:defRPr>
            </a:pPr>
            <a:r>
              <a:t>•  6. Sorties structurées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28016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4455"/>
                </a:solidFill>
                <a:latin typeface="Calibri"/>
              </a:defRPr>
            </a:pPr>
            <a:r>
              <a:t>•  7. Prompts pour les applications métier</a:t>
            </a:r>
          </a:p>
          <a:p>
            <a:pPr>
              <a:spcAft>
                <a:spcPts val="800"/>
              </a:spcAft>
              <a:defRPr sz="2000">
                <a:solidFill>
                  <a:srgbClr val="334455"/>
                </a:solidFill>
                <a:latin typeface="Calibri"/>
              </a:defRPr>
            </a:pPr>
            <a:r>
              <a:t>•  8. Prompts pour le Machine Learning</a:t>
            </a:r>
          </a:p>
          <a:p>
            <a:pPr>
              <a:spcAft>
                <a:spcPts val="800"/>
              </a:spcAft>
              <a:defRPr sz="2000">
                <a:solidFill>
                  <a:srgbClr val="334455"/>
                </a:solidFill>
                <a:latin typeface="Calibri"/>
              </a:defRPr>
            </a:pPr>
            <a:r>
              <a:t>•  9. Prompt Engineering et RAG</a:t>
            </a:r>
          </a:p>
          <a:p>
            <a:pPr>
              <a:spcAft>
                <a:spcPts val="800"/>
              </a:spcAft>
              <a:defRPr sz="2000">
                <a:solidFill>
                  <a:srgbClr val="334455"/>
                </a:solidFill>
                <a:latin typeface="Calibri"/>
              </a:defRPr>
            </a:pPr>
            <a:r>
              <a:t>•  10. Évaluation et optimisation des prompts</a:t>
            </a:r>
          </a:p>
          <a:p>
            <a:pPr>
              <a:spcAft>
                <a:spcPts val="800"/>
              </a:spcAft>
              <a:defRPr sz="2000">
                <a:solidFill>
                  <a:srgbClr val="334455"/>
                </a:solidFill>
                <a:latin typeface="Calibri"/>
              </a:defRPr>
            </a:pPr>
            <a:r>
              <a:t>•  11. Limites et risques</a:t>
            </a:r>
          </a:p>
          <a:p>
            <a:pPr>
              <a:spcAft>
                <a:spcPts val="800"/>
              </a:spcAft>
              <a:defRPr sz="2000">
                <a:solidFill>
                  <a:srgbClr val="334455"/>
                </a:solidFill>
                <a:latin typeface="Calibri"/>
              </a:defRPr>
            </a:pPr>
            <a:r>
              <a:t>•  12. Références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9224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8A9AAA"/>
                </a:solidFill>
                <a:latin typeface="Calibri"/>
              </a:defRPr>
            </a:pPr>
            <a:r>
              <a:t>P1IA G1  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  -  Prérequis sur les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LLM = prédit le mot suivant, entraîné sur de très grands volumes de texte</a:t>
            </a:r>
          </a:p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Contexte = l'ensemble du texte déjà présent (prompt + conversation)</a:t>
            </a:r>
          </a:p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Token = unité de base (≈ 3/4 de mot en moyenne)</a:t>
            </a:r>
          </a:p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Fenêtre de contexte = taille max en tokens (entrée + sortie)</a:t>
            </a:r>
          </a:p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Temperature : hasard (0 = fiable, 1 = créatif)</a:t>
            </a:r>
          </a:p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max tokens : limite de longueur de la sortie</a:t>
            </a:r>
          </a:p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top-p / top-k : filtrent les choix probables</a:t>
            </a:r>
          </a:p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stop sequences : arrêt automatique de la génération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9224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8A9AAA"/>
                </a:solidFill>
                <a:latin typeface="Calibri"/>
              </a:defRPr>
            </a:pPr>
            <a:r>
              <a:t>P1IA G1 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  -  Introduction au Prompt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C5F8A"/>
                </a:solidFill>
                <a:latin typeface="Calibri"/>
              </a:defRPr>
            </a:pPr>
            <a:r>
              <a:t>Un prompt = la seule façon de piloter un 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4455"/>
                </a:solidFill>
                <a:latin typeface="Calibri"/>
              </a:defRPr>
            </a:pPr>
            <a:r>
              <a:t>•  Prompt = instruction donnée à l'IA (question, ordre, texte à transformer)</a:t>
            </a:r>
          </a:p>
          <a:p>
            <a:pPr>
              <a:spcAft>
                <a:spcPts val="600"/>
              </a:spcAft>
              <a:defRPr sz="2000">
                <a:solidFill>
                  <a:srgbClr val="334455"/>
                </a:solidFill>
                <a:latin typeface="Calibri"/>
              </a:defRPr>
            </a:pPr>
            <a:r>
              <a:t>•  Prompt Engineering = concevoir, tester et améliorer les prompts</a:t>
            </a:r>
          </a:p>
          <a:p>
            <a:pPr>
              <a:spcAft>
                <a:spcPts val="600"/>
              </a:spcAft>
              <a:defRPr sz="2000">
                <a:solidFill>
                  <a:srgbClr val="334455"/>
                </a:solidFill>
                <a:latin typeface="Calibri"/>
              </a:defRPr>
            </a:pPr>
            <a:r>
              <a:t>•  Pourquoi ? Qualité des réponses, temps gagné, moins d'erreurs</a:t>
            </a:r>
          </a:p>
          <a:p>
            <a:pPr>
              <a:spcAft>
                <a:spcPts val="600"/>
              </a:spcAft>
              <a:defRPr sz="2000">
                <a:solidFill>
                  <a:srgbClr val="334455"/>
                </a:solidFill>
                <a:latin typeface="Calibri"/>
              </a:defRPr>
            </a:pPr>
            <a:r>
              <a:t>•  Permet d'industrialiser l'IA dans les applications métier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9224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8A9AAA"/>
                </a:solidFill>
                <a:latin typeface="Calibri"/>
              </a:defRPr>
            </a:pPr>
            <a:r>
              <a:t>P1IA G1 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  -  Structure d'un prompt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1783080" cy="50292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RÔLE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874519"/>
            <a:ext cx="1783080" cy="2011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011680"/>
            <a:ext cx="1563624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4455"/>
                </a:solidFill>
                <a:latin typeface="Calibri"/>
              </a:defRPr>
            </a:pPr>
            <a:r>
              <a:t>qui est le modèle ?</a:t>
            </a:r>
          </a:p>
          <a:p>
            <a:pPr algn="l">
              <a:defRPr sz="1200" b="0">
                <a:solidFill>
                  <a:srgbClr val="334455"/>
                </a:solidFill>
                <a:latin typeface="Calibri"/>
              </a:defRPr>
            </a:pPr>
            <a:r>
              <a:t>ex. expert CA</a:t>
            </a:r>
          </a:p>
        </p:txBody>
      </p:sp>
      <p:sp>
        <p:nvSpPr>
          <p:cNvPr id="9" name="Rectangle 8"/>
          <p:cNvSpPr/>
          <p:nvPr/>
        </p:nvSpPr>
        <p:spPr>
          <a:xfrm>
            <a:off x="2304288" y="1371600"/>
            <a:ext cx="1783080" cy="50292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04288" y="141732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CONTEXTE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04288" y="1874519"/>
            <a:ext cx="1783080" cy="2011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14016" y="2011680"/>
            <a:ext cx="1563624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4455"/>
                </a:solidFill>
                <a:latin typeface="Calibri"/>
              </a:defRPr>
            </a:pPr>
            <a:r>
              <a:t>situation, public</a:t>
            </a:r>
          </a:p>
          <a:p>
            <a:pPr algn="l">
              <a:defRPr sz="1200" b="0">
                <a:solidFill>
                  <a:srgbClr val="334455"/>
                </a:solidFill>
                <a:latin typeface="Calibri"/>
              </a:defRPr>
            </a:pPr>
            <a:r>
              <a:t>limites de fond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97096" y="1371600"/>
            <a:ext cx="1783080" cy="50292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97096" y="141732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TÂCHE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97096" y="1874519"/>
            <a:ext cx="1783080" cy="2011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06824" y="2011680"/>
            <a:ext cx="1563624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4455"/>
                </a:solidFill>
                <a:latin typeface="Calibri"/>
              </a:defRPr>
            </a:pPr>
            <a:r>
              <a:t>verbe d'action</a:t>
            </a:r>
          </a:p>
          <a:p>
            <a:pPr algn="l">
              <a:defRPr sz="1200" b="0">
                <a:solidFill>
                  <a:srgbClr val="334455"/>
                </a:solidFill>
                <a:latin typeface="Calibri"/>
              </a:defRPr>
            </a:pPr>
            <a:r>
              <a:t>« résume », « classe 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9904" y="1371600"/>
            <a:ext cx="1783080" cy="50292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89904" y="141732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DONNÉES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9904" y="1874519"/>
            <a:ext cx="1783080" cy="2011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2" y="2011680"/>
            <a:ext cx="1563624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4455"/>
                </a:solidFill>
                <a:latin typeface="Calibri"/>
              </a:defRPr>
            </a:pPr>
            <a:r>
              <a:t>le texte à traiter</a:t>
            </a:r>
          </a:p>
          <a:p>
            <a:pPr algn="l">
              <a:defRPr sz="1200" b="0">
                <a:solidFill>
                  <a:srgbClr val="334455"/>
                </a:solidFill>
                <a:latin typeface="Calibri"/>
              </a:defRPr>
            </a:pPr>
            <a:r>
              <a:t>bien délimité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82712" y="1371600"/>
            <a:ext cx="1783080" cy="50292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82712" y="141732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CONTRAINTES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82712" y="1874519"/>
            <a:ext cx="1783080" cy="2011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2440" y="2011680"/>
            <a:ext cx="1563624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4455"/>
                </a:solidFill>
                <a:latin typeface="Calibri"/>
              </a:defRPr>
            </a:pPr>
            <a:r>
              <a:t>longueur, ton, style</a:t>
            </a:r>
          </a:p>
          <a:p>
            <a:pPr algn="l">
              <a:defRPr sz="1200" b="0">
                <a:solidFill>
                  <a:srgbClr val="334455"/>
                </a:solidFill>
                <a:latin typeface="Calibri"/>
              </a:defRPr>
            </a:pPr>
            <a:r>
              <a:t>interdits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1371600"/>
            <a:ext cx="1783080" cy="50292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141732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FORMAT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75520" y="1874519"/>
            <a:ext cx="1783080" cy="2011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85248" y="2011680"/>
            <a:ext cx="1563624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4455"/>
                </a:solidFill>
                <a:latin typeface="Calibri"/>
              </a:defRPr>
            </a:pPr>
            <a:r>
              <a:t>structure attendue</a:t>
            </a:r>
          </a:p>
          <a:p>
            <a:pPr algn="l">
              <a:defRPr sz="1200" b="0">
                <a:solidFill>
                  <a:srgbClr val="334455"/>
                </a:solidFill>
                <a:latin typeface="Calibri"/>
              </a:defRPr>
            </a:pPr>
            <a:r>
              <a:t>JSON, puces, tableau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114800"/>
            <a:ext cx="11338560" cy="21031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251960"/>
            <a:ext cx="108813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4455"/>
                </a:solidFill>
                <a:latin typeface="Calibri"/>
              </a:defRPr>
            </a:pPr>
            <a:r>
              <a:t>Exemple :  Tu es un analyste financier.  →  RÔLE</a:t>
            </a:r>
          </a:p>
          <a:p>
            <a:pPr algn="l">
              <a:defRPr sz="1400" b="0">
                <a:solidFill>
                  <a:srgbClr val="334455"/>
                </a:solidFill>
                <a:latin typeface="Calibri"/>
              </a:defRPr>
            </a:pPr>
            <a:r>
              <a:t>Synthèse pour un PDG non technique.  →  CONTEXTE</a:t>
            </a:r>
          </a:p>
          <a:p>
            <a:pPr algn="l">
              <a:defRPr sz="1400" b="0">
                <a:solidFill>
                  <a:srgbClr val="334455"/>
                </a:solidFill>
                <a:latin typeface="Calibri"/>
              </a:defRPr>
            </a:pPr>
            <a:r>
              <a:t>Résume ce rapport trimestriel.  →  TÂCHE</a:t>
            </a:r>
          </a:p>
          <a:p>
            <a:pPr algn="l">
              <a:defRPr sz="1400" b="0">
                <a:solidFill>
                  <a:srgbClr val="334455"/>
                </a:solidFill>
                <a:latin typeface="Calibri"/>
              </a:defRPr>
            </a:pPr>
            <a:r>
              <a:t>Rapport : &lt;&lt;&lt;texte&gt;&gt;&gt;  →  DONNÉES</a:t>
            </a:r>
          </a:p>
          <a:p>
            <a:pPr algn="l">
              <a:defRPr sz="1400" b="0">
                <a:solidFill>
                  <a:srgbClr val="334455"/>
                </a:solidFill>
                <a:latin typeface="Calibri"/>
              </a:defRPr>
            </a:pPr>
            <a:r>
              <a:t>Max 8 lignes, sans jargon.  →  CONTRAINTES</a:t>
            </a:r>
          </a:p>
          <a:p>
            <a:pPr algn="l">
              <a:defRPr sz="1400" b="0">
                <a:solidFill>
                  <a:srgbClr val="334455"/>
                </a:solidFill>
                <a:latin typeface="Calibri"/>
              </a:defRPr>
            </a:pPr>
            <a:r>
              <a:t>Format : 3 puces + 1 conclusion.  →  FORMAT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9224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8A9AAA"/>
                </a:solidFill>
                <a:latin typeface="Calibri"/>
              </a:defRPr>
            </a:pPr>
            <a:r>
              <a:t>P1IA G1 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4  -  Zero-shot prompting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3611880" cy="502920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26464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OBJECTIF  (pourquoi ?)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874520"/>
            <a:ext cx="3611880" cy="4617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33375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Aucun exemple donné. Le modèle mobilise son entraînement.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371600"/>
            <a:ext cx="3611880" cy="50292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426464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SYNTAXE  (comment ?)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874520"/>
            <a:ext cx="3611880" cy="4617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2057400"/>
            <a:ext cx="33375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Décris la tâche + fournis l'entrée.</a:t>
            </a:r>
          </a:p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« Fais X sur Y ».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1371600"/>
            <a:ext cx="3611880" cy="5029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426464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EXEMPLE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874520"/>
            <a:ext cx="3611880" cy="4617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2057400"/>
            <a:ext cx="33375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« Classe le sentiment de ce commentaire (positif / négatif / neutre) :</a:t>
            </a:r>
          </a:p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« Le produit est arrivé cassé. »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9224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8A9AAA"/>
                </a:solidFill>
                <a:latin typeface="Calibri"/>
              </a:defRPr>
            </a:pPr>
            <a:r>
              <a:t>P1IA G1 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4  -  One-shot prompting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3611880" cy="502920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26464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OBJECTIF  (pourquoi ?)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874520"/>
            <a:ext cx="3611880" cy="4617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33375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Un seul exemple montre le format attendu.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371600"/>
            <a:ext cx="3611880" cy="50292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426464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SYNTAXE  (comment ?)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874520"/>
            <a:ext cx="3611880" cy="4617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2057400"/>
            <a:ext cx="33375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Tâche + 1 exemple (entrée -&gt; sortie) + nouvel entrée.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1371600"/>
            <a:ext cx="3611880" cy="5029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426464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EXEMPLE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874520"/>
            <a:ext cx="3611880" cy="4617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2057400"/>
            <a:ext cx="33375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Convertis un titre de film en emojis.</a:t>
            </a:r>
          </a:p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Exemple : « Jaws » -&gt; donnée.</a:t>
            </a:r>
          </a:p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« Titanic » -&gt;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9224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8A9AAA"/>
                </a:solidFill>
                <a:latin typeface="Calibri"/>
              </a:defRPr>
            </a:pPr>
            <a:r>
              <a:t>P1IA G1 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4  -  Few-shot prompting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3611880" cy="502920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26464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OBJECTIF  (pourquoi ?)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874520"/>
            <a:ext cx="3611880" cy="4617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33375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Plusieurs exemples (2 à 5) enseignent le « schéma ».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371600"/>
            <a:ext cx="3611880" cy="50292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426464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SYNTAXE  (comment ?)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874520"/>
            <a:ext cx="3611880" cy="4617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2057400"/>
            <a:ext cx="33375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Tâche + exemples A-&gt;B + nouvelle entrée -&gt; 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1371600"/>
            <a:ext cx="3611880" cy="5029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426464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EXEMPLE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874520"/>
            <a:ext cx="3611880" cy="4617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2057400"/>
            <a:ext cx="33375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Classe : Travail / Personnel / Spam.</a:t>
            </a:r>
          </a:p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« -50% ce week-end ! » -&gt; Spam</a:t>
            </a:r>
          </a:p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« Budget Q2 ? » -&gt; Travail</a:t>
            </a:r>
          </a:p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« Recette de tarte » -&gt;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9224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8A9AAA"/>
                </a:solidFill>
                <a:latin typeface="Calibri"/>
              </a:defRPr>
            </a:pPr>
            <a:r>
              <a:t>P1IA G1 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4  -  Chain-of-Thought (CoT)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3611880" cy="502920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26464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OBJECTIF  (pourquoi ?)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874520"/>
            <a:ext cx="3611880" cy="4617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33375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Imposer un raisonnement pas à pas : plus fiable.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371600"/>
            <a:ext cx="3611880" cy="50292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426464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SYNTAXE  (comment ?)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874520"/>
            <a:ext cx="3611880" cy="4617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2057400"/>
            <a:ext cx="33375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Ajouter : « Raisonne étape par étape ».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1371600"/>
            <a:ext cx="3611880" cy="5029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426464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EXEMPLE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874520"/>
            <a:ext cx="3611880" cy="4617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2057400"/>
            <a:ext cx="33375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Train Paris 120 km/h, Lyon 90 km/h.</a:t>
            </a:r>
          </a:p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Paris-Lyon : 470 km.</a:t>
            </a:r>
          </a:p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« Raisonne étape par étape.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9224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8A9AAA"/>
                </a:solidFill>
                <a:latin typeface="Calibri"/>
              </a:defRPr>
            </a:pPr>
            <a:r>
              <a:t>P1IA G1 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4  -  Structured prompting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3611880" cy="502920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26464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OBJECTIF  (pourquoi ?)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874520"/>
            <a:ext cx="3611880" cy="4617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33375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Sortie contrainte à un format = exploitable par un programme.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371600"/>
            <a:ext cx="3611880" cy="50292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426464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SYNTAXE  (comment ?)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874520"/>
            <a:ext cx="3611880" cy="4617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2057400"/>
            <a:ext cx="33375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Imposer le format dans le prompt :</a:t>
            </a:r>
          </a:p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« Réponds uniquement en JSON. 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1371600"/>
            <a:ext cx="3611880" cy="5029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426464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EXEMPLE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874520"/>
            <a:ext cx="3611880" cy="4617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2057400"/>
            <a:ext cx="33375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{</a:t>
            </a:r>
          </a:p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  "resume": "...",</a:t>
            </a:r>
          </a:p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  "mots_cles": ["..."],</a:t>
            </a:r>
          </a:p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  "confiance": 0.9</a:t>
            </a:r>
          </a:p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9224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8A9AAA"/>
                </a:solidFill>
                <a:latin typeface="Calibri"/>
              </a:defRPr>
            </a:pPr>
            <a:r>
              <a:t>P1IA G1 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5  -  Prompt Engineering et raisonnement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C5F8A"/>
                </a:solidFill>
                <a:latin typeface="Calibri"/>
              </a:defRPr>
            </a:pPr>
            <a:r>
              <a:t>2 techniques d'or pour les tâches de logique et de synthèse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4455"/>
                </a:solidFill>
                <a:latin typeface="Calibri"/>
              </a:defRPr>
            </a:pPr>
            <a:r>
              <a:t>•  Décomposition : découper un problème complexe en sous-tâches simples</a:t>
            </a:r>
          </a:p>
          <a:p>
            <a:pPr>
              <a:spcAft>
                <a:spcPts val="600"/>
              </a:spcAft>
              <a:defRPr sz="2000">
                <a:solidFill>
                  <a:srgbClr val="334455"/>
                </a:solidFill>
                <a:latin typeface="Calibri"/>
              </a:defRPr>
            </a:pPr>
            <a:r>
              <a:t>•  Chaque sous-tâche est traitée séparément puis on assemble</a:t>
            </a:r>
          </a:p>
          <a:p>
            <a:pPr>
              <a:spcAft>
                <a:spcPts val="600"/>
              </a:spcAft>
              <a:defRPr sz="2000">
                <a:solidFill>
                  <a:srgbClr val="334455"/>
                </a:solidFill>
                <a:latin typeface="Calibri"/>
              </a:defRPr>
            </a:pPr>
            <a:r>
              <a:t>•  Self-check : le modèle relit, critique puis corrige sa propre réponse</a:t>
            </a:r>
          </a:p>
          <a:p>
            <a:pPr>
              <a:spcAft>
                <a:spcPts val="600"/>
              </a:spcAft>
              <a:defRPr sz="2000">
                <a:solidFill>
                  <a:srgbClr val="334455"/>
                </a:solidFill>
                <a:latin typeface="Calibri"/>
              </a:defRPr>
            </a:pPr>
            <a:r>
              <a:t>•  Double-pass : réponse 1 -&gt; critique -&gt; réponse 2 corrigée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9224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8A9AAA"/>
                </a:solidFill>
                <a:latin typeface="Calibri"/>
              </a:defRPr>
            </a:pPr>
            <a:r>
              <a:t>P1IA G1  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6  -  Sorties structurées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Pourquoi ? Exploitation automatique, comparaison, moins d'oublis</a:t>
            </a:r>
          </a:p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JSON : passage aux applications (API, automatisation)</a:t>
            </a:r>
          </a:p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XML : documents, échanges normalisés</a:t>
            </a:r>
          </a:p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Tables Markdown / CSV : exports Excel</a:t>
            </a:r>
          </a:p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Validation : le code vérifie le format ; le modèle relit face au schéma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9224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8A9AAA"/>
                </a:solidFill>
                <a:latin typeface="Calibri"/>
              </a:defRPr>
            </a:pPr>
            <a:r>
              <a:t>P1IA G1  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7  -  Prompts pour les applications métier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5532120" cy="868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737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A3A5C"/>
                </a:solidFill>
                <a:latin typeface="Calibri"/>
              </a:defRPr>
            </a:pPr>
            <a:r>
              <a:t>Résumé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1517904"/>
            <a:ext cx="3429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4455"/>
                </a:solidFill>
                <a:latin typeface="Calibri"/>
              </a:defRPr>
            </a:pPr>
            <a:r>
              <a:t>« Résume en 3 puces, garde les chiffres clés »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371600"/>
            <a:ext cx="5532120" cy="868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463040"/>
            <a:ext cx="1737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A3A5C"/>
                </a:solidFill>
                <a:latin typeface="Calibri"/>
              </a:defRPr>
            </a:pPr>
            <a:r>
              <a:t>Traduction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517904"/>
            <a:ext cx="3429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4455"/>
                </a:solidFill>
                <a:latin typeface="Calibri"/>
              </a:defRPr>
            </a:pPr>
            <a:r>
              <a:t>« Traduis en anglais pro, garde les nombres 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560320"/>
            <a:ext cx="5532120" cy="868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51760"/>
            <a:ext cx="1737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A3A5C"/>
                </a:solidFill>
                <a:latin typeface="Calibri"/>
              </a:defRPr>
            </a:pPr>
            <a:r>
              <a:t>Classification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706624"/>
            <a:ext cx="3429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4455"/>
                </a:solidFill>
                <a:latin typeface="Calibri"/>
              </a:defRPr>
            </a:pPr>
            <a:r>
              <a:t>« Classe : bug / question / feature 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560320"/>
            <a:ext cx="5532120" cy="868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651760"/>
            <a:ext cx="1737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A3A5C"/>
                </a:solidFill>
                <a:latin typeface="Calibri"/>
              </a:defRPr>
            </a:pPr>
            <a:r>
              <a:t>Extraction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706624"/>
            <a:ext cx="3429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4455"/>
                </a:solidFill>
                <a:latin typeface="Calibri"/>
              </a:defRPr>
            </a:pPr>
            <a:r>
              <a:t>« Extrais nom, date, montant -&gt; JSON 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749040"/>
            <a:ext cx="5532120" cy="868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840480"/>
            <a:ext cx="1737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A3A5C"/>
                </a:solidFill>
                <a:latin typeface="Calibri"/>
              </a:defRPr>
            </a:pPr>
            <a:r>
              <a:t>Génération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3895344"/>
            <a:ext cx="3429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4455"/>
                </a:solidFill>
                <a:latin typeface="Calibri"/>
              </a:defRPr>
            </a:pPr>
            <a:r>
              <a:t>« Rédige un mail de relance, 150 mots, ton courtois 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749040"/>
            <a:ext cx="5532120" cy="868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3840480"/>
            <a:ext cx="1737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A3A5C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895344"/>
            <a:ext cx="3429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4455"/>
                </a:solidFill>
                <a:latin typeface="Calibri"/>
              </a:defRPr>
            </a:pPr>
            <a:r>
              <a:t>« Écris une fonction Python qui calcule une moyenne 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9224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8A9AAA"/>
                </a:solidFill>
                <a:latin typeface="Calibri"/>
              </a:defRPr>
            </a:pPr>
            <a:r>
              <a:t>P1IA G1  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8  -  Prompts pour le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Préparation : nettoyage, doublons, normalisation des dates</a:t>
            </a:r>
          </a:p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Visualisation : demander le code matplotlib adapté aux données</a:t>
            </a:r>
          </a:p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Sélection de modèles : faire comparer plusieurs familles</a:t>
            </a:r>
          </a:p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Interprétation : expliquer matrice de confusion, précision, rappel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9224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8A9AAA"/>
                </a:solidFill>
                <a:latin typeface="Calibri"/>
              </a:defRPr>
            </a:pPr>
            <a:r>
              <a:t>P1IA G1  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9  -  Prompt Engineering et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334455"/>
                </a:solidFill>
                <a:latin typeface="Calibri"/>
              </a:defRPr>
            </a:pPr>
            <a:r>
              <a:t>Prompting seul ne suffit pas : le modèle ne connaît pas vos documents ni l'actualité.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37360"/>
            <a:ext cx="3611880" cy="502920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78308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1. RECHERCHE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240280"/>
            <a:ext cx="3611880" cy="14630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377440"/>
            <a:ext cx="33375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Chercher les passages pertinents dans une base de documents (retrieval).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737360"/>
            <a:ext cx="3611880" cy="502920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178308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2. AUGMENTATION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2240280"/>
            <a:ext cx="3611880" cy="14630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2377440"/>
            <a:ext cx="33375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Insérer ces extraits dans le prompt (augmentation du contexte).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1737360"/>
            <a:ext cx="3611880" cy="502920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178308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3. GÉNÉRATION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1000" y="2240280"/>
            <a:ext cx="3611880" cy="14630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377440"/>
            <a:ext cx="33375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455"/>
                </a:solidFill>
                <a:latin typeface="Calibri"/>
              </a:defRPr>
            </a:pPr>
            <a:r>
              <a:t>Le modèle répond uniquement à partir des extraits cités.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023360"/>
            <a:ext cx="11338560" cy="2194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160520"/>
            <a:ext cx="108813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4455"/>
                </a:solidFill>
                <a:latin typeface="Calibri"/>
              </a:defRPr>
            </a:pPr>
            <a:r>
              <a:t>Prompt RAG type :</a:t>
            </a:r>
          </a:p>
          <a:p>
            <a:pPr algn="l">
              <a:defRPr sz="1400" b="0">
                <a:solidFill>
                  <a:srgbClr val="334455"/>
                </a:solidFill>
                <a:latin typeface="Calibri"/>
              </a:defRPr>
            </a:pPr>
            <a:r>
              <a:t>« Réponds UNIQUEMENT à partir des extraits ci-dessous.</a:t>
            </a:r>
          </a:p>
          <a:p>
            <a:pPr algn="l">
              <a:defRPr sz="1400" b="0">
                <a:solidFill>
                  <a:srgbClr val="334455"/>
                </a:solidFill>
                <a:latin typeface="Calibri"/>
              </a:defRPr>
            </a:pPr>
            <a:r>
              <a:t>Si absent : "Information introuvable."</a:t>
            </a:r>
          </a:p>
          <a:p>
            <a:pPr algn="l">
              <a:defRPr sz="1400" b="0">
                <a:solidFill>
                  <a:srgbClr val="334455"/>
                </a:solidFill>
                <a:latin typeface="Calibri"/>
              </a:defRPr>
            </a:pPr>
            <a:r>
              <a:t>Extraits : &lt;&lt;&lt;doc1 &gt;&gt;&gt; &lt;&lt;&lt;doc2 &gt;&gt;&gt;    Question : ...</a:t>
            </a:r>
          </a:p>
          <a:p>
            <a:pPr algn="l">
              <a:defRPr sz="1400" b="0">
                <a:solidFill>
                  <a:srgbClr val="334455"/>
                </a:solidFill>
                <a:latin typeface="Calibri"/>
              </a:defRPr>
            </a:pPr>
            <a:r>
              <a:t>200 mots max, cite tes sources. 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9224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8A9AAA"/>
                </a:solidFill>
                <a:latin typeface="Calibri"/>
              </a:defRPr>
            </a:pPr>
            <a:r>
              <a:t>P1IA G1  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10  -  Évaluation et optimisation des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Pourquoi : un prompt « qui marche une fois » peut échouer ailleurs</a:t>
            </a:r>
          </a:p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Mesurer : exactitude, exhaustivité, format, absence d'hallucination</a:t>
            </a:r>
          </a:p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Comparer : A/B testing sur les mêmes entrées, grille de notation</a:t>
            </a:r>
          </a:p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Itérer : écrire -&gt; tester -&gt; identifier les erreurs -&gt; corriger -&gt; re-tester</a:t>
            </a:r>
          </a:p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Garder les versions (v1, v2, ...) pour progresser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9224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8A9AAA"/>
                </a:solidFill>
                <a:latin typeface="Calibri"/>
              </a:defRPr>
            </a:pPr>
            <a:r>
              <a:t>P1IA G1  10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11  -  Limites et risques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Hallucinations : réponses fausses mais assurées  → RAG + citations</a:t>
            </a:r>
          </a:p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Ambiguïté : prompt flou = réponse au hasard  → préciser</a:t>
            </a:r>
          </a:p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Biais : stéréotypes reproduits  → relecture humaine</a:t>
            </a:r>
          </a:p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Confidentialité : les données partent chez le fournisseur  → anonymiser</a:t>
            </a:r>
          </a:p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Injection de prompt : les données détournent les instructions  → séparer</a:t>
            </a:r>
          </a:p>
          <a:p>
            <a:pPr>
              <a:spcAft>
                <a:spcPts val="600"/>
              </a:spcAft>
              <a:defRPr sz="1900">
                <a:solidFill>
                  <a:srgbClr val="334455"/>
                </a:solidFill>
                <a:latin typeface="Calibri"/>
              </a:defRPr>
            </a:pPr>
            <a:r>
              <a:t>•  Jailbreak : contourner les garde-fous  → supervision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9224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8A9AAA"/>
                </a:solidFill>
                <a:latin typeface="Calibri"/>
              </a:defRPr>
            </a:pPr>
            <a:r>
              <a:t>P1IA G1  11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E8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12  -  Références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4455"/>
                </a:solidFill>
                <a:latin typeface="Calibri"/>
              </a:defRPr>
            </a:pPr>
            <a:r>
              <a:t>•  OpenAI : platform.openai.com/docs/guides/prompt-engineering</a:t>
            </a:r>
          </a:p>
          <a:p>
            <a:pPr>
              <a:spcAft>
                <a:spcPts val="600"/>
              </a:spcAft>
              <a:defRPr sz="1700">
                <a:solidFill>
                  <a:srgbClr val="334455"/>
                </a:solidFill>
                <a:latin typeface="Calibri"/>
              </a:defRPr>
            </a:pPr>
            <a:r>
              <a:t>•  Anthropic : docs.anthropic.com (Prompt Engineering Overview)</a:t>
            </a:r>
          </a:p>
          <a:p>
            <a:pPr>
              <a:spcAft>
                <a:spcPts val="600"/>
              </a:spcAft>
              <a:defRPr sz="1700">
                <a:solidFill>
                  <a:srgbClr val="334455"/>
                </a:solidFill>
                <a:latin typeface="Calibri"/>
              </a:defRPr>
            </a:pPr>
            <a:r>
              <a:t>•  Google / Gemini : ai.google.dev/gemini-api/docs/prompting-intro</a:t>
            </a:r>
          </a:p>
          <a:p>
            <a:pPr>
              <a:spcAft>
                <a:spcPts val="600"/>
              </a:spcAft>
              <a:defRPr sz="1700">
                <a:solidFill>
                  <a:srgbClr val="334455"/>
                </a:solidFill>
                <a:latin typeface="Calibri"/>
              </a:defRPr>
            </a:pPr>
            <a:r>
              <a:t>•  Prompt Engineering Guide (DAIR AI) : promptingguide.ai</a:t>
            </a:r>
          </a:p>
          <a:p>
            <a:pPr>
              <a:spcAft>
                <a:spcPts val="600"/>
              </a:spcAft>
              <a:defRPr sz="1700">
                <a:solidFill>
                  <a:srgbClr val="334455"/>
                </a:solidFill>
                <a:latin typeface="Calibri"/>
              </a:defRPr>
            </a:pPr>
            <a:r>
              <a:t>•  Microsoft Azure OpenAI : learn.microsoft.com (prompt engineering)</a:t>
            </a:r>
          </a:p>
          <a:p>
            <a:pPr>
              <a:spcAft>
                <a:spcPts val="600"/>
              </a:spcAft>
              <a:defRPr sz="1700">
                <a:solidFill>
                  <a:srgbClr val="334455"/>
                </a:solidFill>
                <a:latin typeface="Calibri"/>
              </a:defRPr>
            </a:pPr>
            <a:r>
              <a:t>•  ArXiv : « Chain-of-Thought Prompting » (Wei et al. 2022)</a:t>
            </a:r>
          </a:p>
          <a:p>
            <a:pPr>
              <a:spcAft>
                <a:spcPts val="600"/>
              </a:spcAft>
              <a:defRPr sz="1700">
                <a:solidFill>
                  <a:srgbClr val="334455"/>
                </a:solidFill>
                <a:latin typeface="Calibri"/>
              </a:defRPr>
            </a:pPr>
            <a:r>
              <a:t>•  ArXiv : « Retrieval-Augmented Generation » (Lewis et al. 2020)</a:t>
            </a:r>
          </a:p>
          <a:p>
            <a:pPr>
              <a:spcAft>
                <a:spcPts val="600"/>
              </a:spcAft>
              <a:defRPr sz="1700">
                <a:solidFill>
                  <a:srgbClr val="334455"/>
                </a:solidFill>
                <a:latin typeface="Calibri"/>
              </a:defRPr>
            </a:pPr>
            <a:r>
              <a:t>•  Dossier cheat-sheets du livrable (sources web)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9224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8A9AAA"/>
                </a:solidFill>
                <a:latin typeface="Calibri"/>
              </a:defRPr>
            </a:pPr>
            <a:r>
              <a:t>P1IA G1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