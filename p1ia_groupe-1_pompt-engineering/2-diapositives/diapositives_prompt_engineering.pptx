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2011680"/>
            <a:ext cx="5852160" cy="5852160"/>
          </a:xfrm>
          <a:prstGeom prst="ellipse">
            <a:avLst/>
          </a:prstGeom>
          <a:noFill/>
          <a:ln w="317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-822960"/>
            <a:ext cx="3291840" cy="329184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280160"/>
            <a:ext cx="960120" cy="96012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7532" y="1239012"/>
            <a:ext cx="1042416" cy="1042416"/>
          </a:xfrm>
          <a:prstGeom prst="ellipse">
            <a:avLst/>
          </a:prstGeom>
          <a:noFill/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4000" b="0" i="0">
                <a:solidFill>
                  <a:srgbClr val="EDDDB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Veille 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400" b="0" i="0">
                <a:solidFill>
                  <a:srgbClr val="EDDDB0"/>
                </a:solidFill>
                <a:latin typeface="Calibri"/>
              </a:defRPr>
            </a:pPr>
            <a:r>
              <a:t>Mieux rédiger pour mieux générer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06908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P1IA · Groupe 1 · Septembre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212080"/>
            <a:ext cx="2926080" cy="658368"/>
          </a:xfrm>
          <a:prstGeom prst="roundRect">
            <a:avLst>
              <a:gd name="adj" fmla="val 25000"/>
            </a:avLst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80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0" i="0">
                <a:solidFill>
                  <a:srgbClr val="DDEAF4"/>
                </a:solidFill>
                <a:latin typeface="Calibri"/>
              </a:defRPr>
            </a:pPr>
            <a:r>
              <a:t>PDF de synthèse (8 p.)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212080"/>
            <a:ext cx="2926080" cy="658368"/>
          </a:xfrm>
          <a:prstGeom prst="roundRect">
            <a:avLst>
              <a:gd name="adj" fmla="val 25000"/>
            </a:avLst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5212080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0" i="0">
                <a:solidFill>
                  <a:srgbClr val="DDEAF4"/>
                </a:solidFill>
                <a:latin typeface="Calibri"/>
              </a:defRPr>
            </a:pPr>
            <a:r>
              <a:t>18 diapositives 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5212080"/>
            <a:ext cx="2926080" cy="658368"/>
          </a:xfrm>
          <a:prstGeom prst="roundRect">
            <a:avLst>
              <a:gd name="adj" fmla="val 25000"/>
            </a:avLst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5212080"/>
            <a:ext cx="2651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0" i="0">
                <a:solidFill>
                  <a:srgbClr val="DDEAF4"/>
                </a:solidFill>
                <a:latin typeface="Calibri"/>
              </a:defRPr>
            </a:pPr>
            <a:r>
              <a:t>3 cheat 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A6B7E"/>
                </a:solidFill>
                <a:latin typeface="Calibri"/>
              </a:defRPr>
            </a:pPr>
            <a:r>
              <a:t>Thème : bleu marine · doré · blanc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Sommaire — les 12 chapitres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88720"/>
            <a:ext cx="5669280" cy="4754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3776" y="1243584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2435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1243584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PARTIE I  · FONDAMENTAUX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" y="1810512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810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1792224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1 · Prérequis sur les LLM</a:t>
            </a:r>
          </a:p>
        </p:txBody>
      </p:sp>
      <p:sp>
        <p:nvSpPr>
          <p:cNvPr id="17" name="Oval 16"/>
          <p:cNvSpPr/>
          <p:nvPr/>
        </p:nvSpPr>
        <p:spPr>
          <a:xfrm>
            <a:off x="512064" y="2176272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2176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157984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2 · Introduction au PE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" y="2542032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542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523744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3 · Structure d'un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2916936"/>
            <a:ext cx="5669280" cy="18288"/>
          </a:xfrm>
          <a:prstGeom prst="rect">
            <a:avLst/>
          </a:prstGeom>
          <a:solidFill>
            <a:srgbClr val="C9D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2395728"/>
            <a:ext cx="5669280" cy="475488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3776" y="2450592"/>
            <a:ext cx="365760" cy="365760"/>
          </a:xfrm>
          <a:prstGeom prst="ellipse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24505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245059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PARTIE II  · TECHNIQUES</a:t>
            </a:r>
          </a:p>
        </p:txBody>
      </p:sp>
      <p:sp>
        <p:nvSpPr>
          <p:cNvPr id="28" name="Oval 27"/>
          <p:cNvSpPr/>
          <p:nvPr/>
        </p:nvSpPr>
        <p:spPr>
          <a:xfrm>
            <a:off x="512064" y="301752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017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299923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4 · Techniques de prompting</a:t>
            </a:r>
          </a:p>
        </p:txBody>
      </p:sp>
      <p:sp>
        <p:nvSpPr>
          <p:cNvPr id="31" name="Oval 30"/>
          <p:cNvSpPr/>
          <p:nvPr/>
        </p:nvSpPr>
        <p:spPr>
          <a:xfrm>
            <a:off x="512064" y="338328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33832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36499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5 · PE et raisonnement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" y="374904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37490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373075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6 · Sorties structurées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123944"/>
            <a:ext cx="5669280" cy="18288"/>
          </a:xfrm>
          <a:prstGeom prst="rect">
            <a:avLst/>
          </a:prstGeom>
          <a:solidFill>
            <a:srgbClr val="C9D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45352" y="1188720"/>
            <a:ext cx="5669280" cy="4754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55080" y="1243584"/>
            <a:ext cx="365760" cy="36576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2435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1243584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PARTIE III  · APPLICATIONS</a:t>
            </a:r>
          </a:p>
        </p:txBody>
      </p:sp>
      <p:sp>
        <p:nvSpPr>
          <p:cNvPr id="42" name="Oval 41"/>
          <p:cNvSpPr/>
          <p:nvPr/>
        </p:nvSpPr>
        <p:spPr>
          <a:xfrm>
            <a:off x="6373368" y="1810512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1810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1792224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7 · Prompts métier</a:t>
            </a:r>
          </a:p>
        </p:txBody>
      </p:sp>
      <p:sp>
        <p:nvSpPr>
          <p:cNvPr id="45" name="Oval 44"/>
          <p:cNvSpPr/>
          <p:nvPr/>
        </p:nvSpPr>
        <p:spPr>
          <a:xfrm>
            <a:off x="6373368" y="2176272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2176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2157984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8 · Prompts pour le ML</a:t>
            </a:r>
          </a:p>
        </p:txBody>
      </p:sp>
      <p:sp>
        <p:nvSpPr>
          <p:cNvPr id="48" name="Oval 47"/>
          <p:cNvSpPr/>
          <p:nvPr/>
        </p:nvSpPr>
        <p:spPr>
          <a:xfrm>
            <a:off x="6373368" y="2542032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2542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2523744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9 · PE et RAG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45352" y="2916936"/>
            <a:ext cx="5669280" cy="18288"/>
          </a:xfrm>
          <a:prstGeom prst="rect">
            <a:avLst/>
          </a:prstGeom>
          <a:solidFill>
            <a:srgbClr val="C9D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45352" y="2395728"/>
            <a:ext cx="5669280" cy="475488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55080" y="2450592"/>
            <a:ext cx="365760" cy="36576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24505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245059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PARTIE IV  · CADRE ET LIMITES</a:t>
            </a:r>
          </a:p>
        </p:txBody>
      </p:sp>
      <p:sp>
        <p:nvSpPr>
          <p:cNvPr id="56" name="Oval 55"/>
          <p:cNvSpPr/>
          <p:nvPr/>
        </p:nvSpPr>
        <p:spPr>
          <a:xfrm>
            <a:off x="6373368" y="301752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73368" y="3017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48272" y="299923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10 · Évaluation et optimisation</a:t>
            </a:r>
          </a:p>
        </p:txBody>
      </p:sp>
      <p:sp>
        <p:nvSpPr>
          <p:cNvPr id="59" name="Oval 58"/>
          <p:cNvSpPr/>
          <p:nvPr/>
        </p:nvSpPr>
        <p:spPr>
          <a:xfrm>
            <a:off x="6373368" y="338328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33832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8272" y="336499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11 · Limites et risques</a:t>
            </a:r>
          </a:p>
        </p:txBody>
      </p:sp>
      <p:sp>
        <p:nvSpPr>
          <p:cNvPr id="62" name="Oval 61"/>
          <p:cNvSpPr/>
          <p:nvPr/>
        </p:nvSpPr>
        <p:spPr>
          <a:xfrm>
            <a:off x="6373368" y="3749040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73368" y="37490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73075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Ch. 12 · Références et conclusion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45352" y="4123944"/>
            <a:ext cx="5669280" cy="18288"/>
          </a:xfrm>
          <a:prstGeom prst="rect">
            <a:avLst/>
          </a:prstGeom>
          <a:solidFill>
            <a:srgbClr val="C9D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4048" y="3840480"/>
            <a:ext cx="11475720" cy="20116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4048" y="3840480"/>
            <a:ext cx="11475720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3913632"/>
            <a:ext cx="11146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3 LIVRABLES DU DOSSIER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4407408"/>
            <a:ext cx="1114653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 i="0">
                <a:solidFill>
                  <a:srgbClr val="22324A"/>
                </a:solidFill>
                <a:latin typeface="Calibri"/>
              </a:defRPr>
            </a:pPr>
            <a:r>
              <a:t>1. PDF de synthèse (8 pages, chapitres détaillés)    2. 18 diapositives (ce jeu, PPTX + HTML)    3. 3 cheat sheets + README des sources</a:t>
            </a:r>
          </a:p>
          <a:p>
            <a:pPr algn="l">
              <a:defRPr sz="15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500" b="0" i="0">
                <a:solidFill>
                  <a:srgbClr val="22324A"/>
                </a:solidFill>
                <a:latin typeface="Calibri"/>
              </a:defRPr>
            </a:pPr>
            <a:r>
              <a:t>Chaque technique repose sur le triptyque :  Objectif (pourquoi ?) · Syntaxe (comment ?) · Exemple.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Prérequis sur les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Contexte, tokens, fenêtre de contexte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Temperature, max tokens, top-p, top-k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Une bonne fenêtre = une bonne réponse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1 · Prérequis sur les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Comment marche un LLM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3611880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051560"/>
            <a:ext cx="7936992" cy="71323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051560"/>
            <a:ext cx="7543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Modèle entraîné à prévoir le mot suivant sur des milliards de textes.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37944"/>
            <a:ext cx="3611880" cy="713232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37944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37944"/>
            <a:ext cx="793699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837944"/>
            <a:ext cx="7543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Tout le texte déjà présent (prompt + conversation) : le modèle « continue » ce contexte.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24328"/>
            <a:ext cx="3611880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24328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624328"/>
            <a:ext cx="7936992" cy="71323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624328"/>
            <a:ext cx="7543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Unité de base : mot, morceau de mot ou ponctuation. ≈ 100 tokens → 75 mots.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10712"/>
            <a:ext cx="3611880" cy="713232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10712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Fenêtre de contexte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410712"/>
            <a:ext cx="793699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3410712"/>
            <a:ext cx="7543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Nb max de tokens visibles (entrée + sortie). Au-delà : oubli ou refus → infos utiles d'abord.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617720"/>
            <a:ext cx="11548872" cy="16002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C9A227"/>
                </a:solidFill>
                <a:latin typeface="Calibri"/>
              </a:defRPr>
            </a:pPr>
            <a:r>
              <a:t>LES PARAMÈTRES QUI PILOTENT LA RÉPONSE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30368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85232"/>
            <a:ext cx="2697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0F2A47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96128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A6B7E"/>
                </a:solidFill>
                <a:latin typeface="Calibri"/>
              </a:defRPr>
            </a:pPr>
            <a:r>
              <a:t>0.0–0.3 fiable · 0.7–1.0 créatif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5230368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5285232"/>
            <a:ext cx="2697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0F2A47"/>
                </a:solidFill>
                <a:latin typeface="Calibri"/>
              </a:defRPr>
            </a:pPr>
            <a:r>
              <a:t>max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5596128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A6B7E"/>
                </a:solidFill>
                <a:latin typeface="Calibri"/>
              </a:defRPr>
            </a:pPr>
            <a:r>
              <a:t>limite la longueur de sortie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45936" y="5230368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3096" y="5285232"/>
            <a:ext cx="2697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0F2A47"/>
                </a:solidFill>
                <a:latin typeface="Calibri"/>
              </a:defRPr>
            </a:pPr>
            <a:r>
              <a:t>top-p / top-k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5596128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A6B7E"/>
                </a:solidFill>
                <a:latin typeface="Calibri"/>
              </a:defRPr>
            </a:pPr>
            <a:r>
              <a:t>filtrent les choix probables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44584" y="5230368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1744" y="5285232"/>
            <a:ext cx="2697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0F2A47"/>
                </a:solidFill>
                <a:latin typeface="Calibri"/>
              </a:defRPr>
            </a:pPr>
            <a:r>
              <a:t>stop sequences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1744" y="5596128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A6B7E"/>
                </a:solidFill>
                <a:latin typeface="Calibri"/>
              </a:defRPr>
            </a:pPr>
            <a:r>
              <a:t>arrêt auto (fin JSON…)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Introduction au Prompt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Un prompt = l'instruction donnée à l'IA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PE = concevoir, tester, améliorer les prompts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Un bon prompt double la qualité de la réponse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2 · Introduction au Prompt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Prompt · Prompt Engineering · Pourquoi ?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703320" cy="19202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3703320" cy="4572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124712"/>
            <a:ext cx="33741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QU'EST-CE QU'UN PROMPT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618488"/>
            <a:ext cx="337413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L'instruction donnée à l'IA : question, ordre, texte à transformer, contrainte.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C'est la seule « manette » de pilotage d'un LLM.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51560"/>
            <a:ext cx="3703320" cy="19202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051560"/>
            <a:ext cx="370332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124712"/>
            <a:ext cx="33741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18488"/>
            <a:ext cx="337413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Discipline : concevoir, tester et améliorer les prompts.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Pas du code : une méthode de rédaction et de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51560"/>
            <a:ext cx="3730752" cy="19202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51560"/>
            <a:ext cx="3730752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124712"/>
            <a:ext cx="3401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POURQUOI IMPORTANT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1618488"/>
            <a:ext cx="340156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✓ Qualité doublée sans changer de modèle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✓ Temps et tokens économisés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✓ Industrialisable dans les apps métier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246120"/>
            <a:ext cx="11548872" cy="30175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C9A227"/>
                </a:solidFill>
                <a:latin typeface="Calibri"/>
              </a:defRPr>
            </a:pPr>
            <a:r>
              <a:t>MAUVAIS vs BON PROMPT — même demande, autre résultat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2336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✗  « Résume ce texte. »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Réponse : résumé vague,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sans structure ni cible.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4983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✓  « Tu es un assistant qui rédige pour des cadres pressés.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Résume en 5 puces de 30 mots max, chaque puce commence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par son mot-clé en gras. »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Réponse : synthèse exploitable directement.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Structure d'un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6 briques : rôle, contexte, tâche, données, contraintes, format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Des délimiteurs séparent consignes et données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Le format de sortie = la brique la plus rentable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3 · Structure d'un prompt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Les 6 briques d'un prompt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097280"/>
            <a:ext cx="1828800" cy="50292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0972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RÔLE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600200"/>
            <a:ext cx="1828800" cy="201168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37360"/>
            <a:ext cx="16093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Posture du modèle</a:t>
            </a: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« expert data analyst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3744" y="1097280"/>
            <a:ext cx="1828800" cy="50292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10972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3744" y="1600200"/>
            <a:ext cx="1828800" cy="201168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737360"/>
            <a:ext cx="16093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Situation, public, limites</a:t>
            </a: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« débutants en Excel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097280"/>
            <a:ext cx="182880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0972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TÂCHE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1600200"/>
            <a:ext cx="1828800" cy="201168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1737360"/>
            <a:ext cx="16093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Verbe d'action</a:t>
            </a: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« explique RECHERCHEV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7376" y="1097280"/>
            <a:ext cx="182880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0972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7376" y="1600200"/>
            <a:ext cx="1828800" cy="201168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1737360"/>
            <a:ext cx="16093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Texte à traiter délimité</a:t>
            </a: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« &lt;&lt;&lt;doc&gt;&gt;&gt; 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1097280"/>
            <a:ext cx="182880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10972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CONTRAINTES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1600200"/>
            <a:ext cx="1828800" cy="201168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737360"/>
            <a:ext cx="16093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Longueur, ton, interdits</a:t>
            </a: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« 10 lignes max 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51008" y="1097280"/>
            <a:ext cx="182880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1008" y="10972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51008" y="1600200"/>
            <a:ext cx="1828800" cy="201168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0736" y="1737360"/>
            <a:ext cx="16093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Structure de sortie</a:t>
            </a: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200" b="0" i="0">
                <a:solidFill>
                  <a:srgbClr val="22324A"/>
                </a:solidFill>
                <a:latin typeface="Calibri"/>
              </a:defRPr>
            </a:pPr>
            <a:r>
              <a:t>« tableau MD 3 col. 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3977639"/>
            <a:ext cx="11548872" cy="22402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C9A227"/>
                </a:solidFill>
                <a:latin typeface="Calibri"/>
              </a:defRPr>
            </a:pPr>
            <a:r>
              <a:t>EXEMPLE COMPLET — 6 BRIGUES ASSEMBLÉES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28032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Tu es un analyste financier.            →  RÔLE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Synthèse pour un PDG non technique.    →  CONTEXTE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Résume ce rapport trimestriel.          →  TÂCHE    |    Rapport : &lt;&lt;&lt;texte&gt;&gt;&gt;    →  DONNÉES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Max 8 lignes, sans jargon.              →  CONTRAINTES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Format : 3 puces + 1 conclusion.        →  FORMAT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Techniques de prompting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Zero-shot, one-shot, few-shot : de 0 à N exemples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Chain-of-Thought : raisonner étape par étape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Structured : sortie contrainte, exploitable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4 · Techniques de prompting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Technique 1 — Zero-shot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363931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OBJECTIF · pourquoi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Aucun exemple. Le modèle mobilise directement son entraînement.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Idéal pour : tâches simples et bien connues.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Coût : minimal (peu de tokens).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3944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3944" y="1051560"/>
            <a:ext cx="3639312" cy="566928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SYNTAXE · comment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Décrire la tâche au verbe d'action, puis fournir l'entrée.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Fais X sur Y. »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Règle : ordre clair, catégories explicitement énumérées.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7848" y="1051560"/>
            <a:ext cx="3639312" cy="5669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4152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EXEMPLE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Classe le sentiment de ce commentaire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(positif / négatif / neutre) :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Le produit est arrivé cassé. » »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→ Sortie : Négatif.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Technique 2 — One-shot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363931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OBJECTIF · pourquoi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Un seul exemple montre au modèle le format ou le style attendu.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Il copie structure et logique de l'exemple.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3944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3944" y="1051560"/>
            <a:ext cx="3639312" cy="566928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SYNTAXE · comment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Tâche + 1 exemple (entrée → sortie) + nouvelle entrée.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L'exemple sert de moule.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7848" y="1051560"/>
            <a:ext cx="3639312" cy="5669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4152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EXEMPLE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Convertis un titre de film en emojis.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Ex : « Jaws » → [requin][vague]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Titanic » → ?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→ [bateau][glace][triste]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Technique 3 — Few-shot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363931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OBJECTIF · pourquoi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2 à 5 exemples apprennent le « schéma » : format + logique.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Très précis sur les tâches inhabituelles ou nuancées.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3944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3944" y="1051560"/>
            <a:ext cx="3639312" cy="566928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SYNTAXE · comment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Tâche + série d'exemples A → B,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puis entrée finale terminée par une flèche.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Exemples représentatifs et variés (cas limites).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7848" y="1051560"/>
            <a:ext cx="3639312" cy="5669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4152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EXEMPLE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Classe : Travail / Personnel / Spam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-50% ce week-end ! » → Spam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Budget Q2 ? » → Travail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Recette de grand-mère » →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→ Personnel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Technique 4 — Chain-of-Thought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363931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OBJECTIF · pourquoi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Forcer le raisonnement étape par étape (Wei et al., 2022).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Gain net sur calcul, logique, planification,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moins d'erreurs de chiffres.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3944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3944" y="1051560"/>
            <a:ext cx="3639312" cy="566928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SYNTAXE · comment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Ajouter une invitation explicite :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Raisonne étape par étape avant de conclure. »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Variante few-shot : raisonnements détaillés en exemple.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7848" y="1051560"/>
            <a:ext cx="3639312" cy="5669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4152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EXEMPLE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Train A : Paris 9h à 120 km/h.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Train B : Lyon 9h à 90 km/h.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Distance : 470 km.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1) t = 470/(120+90) = 2,24 h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2) rencontre à 11 h 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Technique 5 — Structured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3639312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OBJECTIF · pourquoi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Sortie contrainte à un format strict (JSON, XML, tableau).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Exploitable par un programme, zéro reformatage.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3944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23944" y="1051560"/>
            <a:ext cx="3639312" cy="566928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SYNTAXE · comment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Réponds uniquement en JSON, sans texte autour. »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+ squelettes fournis + validation par code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(température basse recommandée).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051560"/>
            <a:ext cx="3639312" cy="52578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7848" y="1051560"/>
            <a:ext cx="3639312" cy="56692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4152" y="1143000"/>
            <a:ext cx="384048" cy="384048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1143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1143000"/>
            <a:ext cx="2816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EXEMPLE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1801368"/>
            <a:ext cx="3236976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{ "resume": "en 1 phrase",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  "mots_cles": ["3 à 5"],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  "tone": "neutre",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  "score": 0.0…1.0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}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→ JSON valide vérifié par json.loads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Pour aller plus loin — techniques avancées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749039" cy="8595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347472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Self-consistency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097280"/>
            <a:ext cx="7799831" cy="859536"/>
          </a:xfrm>
          <a:prstGeom prst="roundRect">
            <a:avLst>
              <a:gd name="adj" fmla="val 12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097280"/>
            <a:ext cx="74066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Plusieurs raisonnements CoT puis vote majoritaire (Wang et al., 2022).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48256"/>
            <a:ext cx="3749039" cy="859536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48256"/>
            <a:ext cx="347472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Tree-of-Thought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2048256"/>
            <a:ext cx="7799831" cy="859536"/>
          </a:xfrm>
          <a:prstGeom prst="roundRect">
            <a:avLst>
              <a:gd name="adj" fmla="val 12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048256"/>
            <a:ext cx="74066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Explorer des branches de raisonnement avec retour arrière (Yao et al., 2023).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3749039" cy="85953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99232"/>
            <a:ext cx="347472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Step-back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2999232"/>
            <a:ext cx="7799831" cy="859536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999232"/>
            <a:ext cx="74066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D'abord le principe général, puis application au cas.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50208"/>
            <a:ext cx="3749039" cy="8595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50208"/>
            <a:ext cx="347472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950208"/>
            <a:ext cx="7799831" cy="859536"/>
          </a:xfrm>
          <a:prstGeom prst="roundRect">
            <a:avLst>
              <a:gd name="adj" fmla="val 12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950208"/>
            <a:ext cx="74066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Alterner raisonnement et appels d'outils (API, calcul) (Yao et al., 2022).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01184"/>
            <a:ext cx="3749039" cy="859536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01184"/>
            <a:ext cx="347472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4901184"/>
            <a:ext cx="7799831" cy="859536"/>
          </a:xfrm>
          <a:prstGeom prst="roundRect">
            <a:avLst>
              <a:gd name="adj" fmla="val 12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901184"/>
            <a:ext cx="74066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Le LLM génère plusieurs prompts candidats, on garde le meilleur.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PE et raisonnement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Décomposition : casser le problème en sous-tâches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Self-check : le modèle relit et corrige sa réponse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Versionner, comparer, itérer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5 · PE et raisonnement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Raisonner avec le LLM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40233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88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 i="0">
                <a:solidFill>
                  <a:srgbClr val="C9A227"/>
                </a:solidFill>
                <a:latin typeface="Calibri"/>
              </a:defRPr>
            </a:pPr>
            <a:r>
              <a:t>1 · DÉCOMPOSITION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Diviser un problème complexe en sous-tâches simples :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chacune devient fiable, puis on assemble.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Étapes :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  1) extrais produits + prix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  2) calcule chaque marge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  3) classe par marge décroissante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→ chaque étape est vérifiable.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051560"/>
            <a:ext cx="5669280" cy="402336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188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 i="0">
                <a:solidFill>
                  <a:srgbClr val="2C638F"/>
                </a:solidFill>
                <a:latin typeface="Calibri"/>
              </a:defRPr>
            </a:pPr>
            <a:r>
              <a:t>2 · SELF-CHECK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64592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Le modèle génère, critique puis corrige :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  1) proposer une réponse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  2) lister 3 erreurs ou oublis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  3) réécrire la version corrigée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Variante « double-pass » : deux réponses,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critique croisée, puis fusion.</a:t>
            </a: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→ surcoût de tokens payé en fiabilité.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349240"/>
            <a:ext cx="1154887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349240"/>
            <a:ext cx="128016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22324A"/>
                </a:solidFill>
                <a:latin typeface="Calibri"/>
              </a:defRPr>
            </a:pPr>
            <a:r>
              <a:t>Leçon : sur toute tâche à plusieurs étapes, exiger la décomposition AVANT la réponse finale.</a:t>
            </a:r>
          </a:p>
          <a:p>
            <a:pPr algn="l">
              <a:defRPr sz="1400" b="1" i="0">
                <a:solidFill>
                  <a:srgbClr val="22324A"/>
                </a:solidFill>
                <a:latin typeface="Calibri"/>
              </a:defRPr>
            </a:pPr>
            <a:r>
              <a:t>Pour une décision critique : faire relire par un correcteur et fusionner.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Sorties structurées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Automatisation : le JSON s'injecte sans parsage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La structure impose les champs → moins d'oublis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Validation par code, jamais par le modèle seul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6 · Sorties structurées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Structurer les sorties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566160" cy="9144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JSON / JSON schema</a:t>
            </a:r>
          </a:p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API, automatisation, bases de 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097280"/>
            <a:ext cx="7982712" cy="914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097280"/>
            <a:ext cx="7589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Types et champs décrits → validation par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03120"/>
            <a:ext cx="3566160" cy="9144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XML</a:t>
            </a:r>
          </a:p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Documents, catalogues, interopérabilité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103120"/>
            <a:ext cx="79827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103120"/>
            <a:ext cx="7589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Schéma XSD, balisage normé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3566160" cy="9144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0896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Markdown / CSV</a:t>
            </a:r>
          </a:p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Exports Excel, tableaux de bord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108960"/>
            <a:ext cx="7982712" cy="914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3108960"/>
            <a:ext cx="7589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0" i="0">
                <a:solidFill>
                  <a:srgbClr val="22324A"/>
                </a:solidFill>
                <a:latin typeface="Calibri"/>
              </a:defRPr>
            </a:pPr>
            <a:r>
              <a:t>Lecture humaine + import tableur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206240"/>
            <a:ext cx="11548872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159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C9A227"/>
                </a:solidFill>
                <a:latin typeface="Calibri"/>
              </a:defRPr>
            </a:pPr>
            <a:r>
              <a:t>POURQUOI STRUCTURER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22324A"/>
                </a:solidFill>
                <a:latin typeface="Calibri"/>
              </a:defRPr>
            </a:pPr>
            <a:r>
              <a:t>1) exploitation automatique directe   2) réponses comparables et testables   3) champs obligatoires → moins d'oublis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349240"/>
            <a:ext cx="1154887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349240"/>
            <a:ext cx="128016" cy="9144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22324A"/>
                </a:solidFill>
                <a:latin typeface="Calibri"/>
              </a:defRPr>
            </a:pPr>
            <a:r>
              <a:t>Validation en 3 étapes : 1) parser par code (json.loads, schéma)  2) relecture par le modèle face au schéma  3) relance ciblée en cas d'échec.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Prompts métier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Résumé, traduction, classification, extraction…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Le prompt = un cahier des charges métier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Public + longueur + ton + format + exemples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7 · Prompts métier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Six applications métier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675887" cy="457200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RÉSUMÉ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554480"/>
            <a:ext cx="3675887" cy="16916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00784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Résume en 3 puces en gardant les chiffres.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19" y="1097280"/>
            <a:ext cx="3675887" cy="4572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19" y="109728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TRADUCTION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19" y="1554480"/>
            <a:ext cx="3675887" cy="16916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700784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Traduis en anglais pro, garde les nombres.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998" y="1097280"/>
            <a:ext cx="3675887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0998" y="109728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0998" y="1554480"/>
            <a:ext cx="3675887" cy="16916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8" y="1700784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Classe : bug / question / feature.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29000"/>
            <a:ext cx="3675887" cy="457200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42900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886200"/>
            <a:ext cx="3675887" cy="16916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32504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Extrais nom, date, montant → JSON. 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429000"/>
            <a:ext cx="3675887" cy="4572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19" y="342900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GÉNÉRATION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19" y="3886200"/>
            <a:ext cx="3675887" cy="16916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4032504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Mail de relance, 150 mots, ton courtois. 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998" y="3429000"/>
            <a:ext cx="3675887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0998" y="342900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0998" y="3886200"/>
            <a:ext cx="3675887" cy="16916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8" y="4032504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Fonction Python : moyenne d'une liste. 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760720"/>
            <a:ext cx="1154887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760720"/>
            <a:ext cx="128016" cy="6217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24728"/>
            <a:ext cx="11155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22324A"/>
                </a:solidFill>
                <a:latin typeface="Calibri"/>
              </a:defRPr>
            </a:pPr>
            <a:r>
              <a:t>Règle d'or : « Un mail » ≠ « une relance de paiement au fournisseur X, 150 mots, ton courtois, date limite + n° facture ».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Prompts pour le Machine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Préparation des données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Génération de visualisations et de code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Interprétation des métriques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8 · Prompts pour le Machine Learning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Prompts pour le Machine Learning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53212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5166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PRÉPARATION DES 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00200"/>
            <a:ext cx="5532120" cy="150876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55648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Nettoie ce jeu de données : doublons, valeurs aberrantes, normalisation des dates.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5532120" cy="50292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166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VISUALISATIONS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600200"/>
            <a:ext cx="5532120" cy="150876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55648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Code matplotlib d'un histogramme du CA mensuel, étiquettes FR, 800×500.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73552"/>
            <a:ext cx="5532120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73552"/>
            <a:ext cx="5166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SÉLECTION DE MODÈLES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76472"/>
            <a:ext cx="5532120" cy="150876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E-mails spam/non-spam, 10 000 ex : compare 3 familles et recommande.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273552"/>
            <a:ext cx="5532120" cy="502920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73552"/>
            <a:ext cx="5166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INTERPRÉTATION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76472"/>
            <a:ext cx="5532120" cy="150876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931920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« Précision 0,72 / rappel 0,88 : sens en dépistage médical (FP/FN) ? 2 pistes. 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623560"/>
            <a:ext cx="11548872" cy="77724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687568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50" b="1" i="0">
                <a:solidFill>
                  <a:srgbClr val="22324A"/>
                </a:solidFill>
                <a:latin typeface="Calibri"/>
              </a:defRPr>
            </a:pPr>
            <a:r>
              <a:t>Astuce ML : demander TOUJOURS le code ET l'explication → on récupère l'exécutable à vérifier + le raisonnement à valider.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Prompt Engineering et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Le prompt seul ne suffit pas : le LLM ignore vos documents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Recherche → Augmentation → Génération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Réponse traçable et vérifiable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9 · Prompt Engineering et RAG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Prompt Engineering + RAG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05840"/>
            <a:ext cx="11548872" cy="658368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60704"/>
            <a:ext cx="11155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22324A"/>
                </a:solidFill>
                <a:latin typeface="Calibri"/>
              </a:defRPr>
            </a:pPr>
            <a:r>
              <a:t>Pourquoi le prompting seul ne suffit pas : pas vos documents, pas l'actualité, hallucination sans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675887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340156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1 · RECHERCHE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423160"/>
            <a:ext cx="3675887" cy="16002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331012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Indexer la base (chunks + embeddings) puis retrouver les passages pertinents (similarité).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19" y="1920240"/>
            <a:ext cx="3675887" cy="50292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920240"/>
            <a:ext cx="340156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2 · AUGMENTATION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19" y="2423160"/>
            <a:ext cx="3675887" cy="16002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2578608"/>
            <a:ext cx="331012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Insérer les extraits retenus DANS le prompt, avec l'instruction et la question.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998" y="1920240"/>
            <a:ext cx="3675887" cy="50292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8" y="1920240"/>
            <a:ext cx="340156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3 · GÉNÉRATION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0998" y="2423160"/>
            <a:ext cx="3675887" cy="16002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8" y="2578608"/>
            <a:ext cx="331012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Répondre UNIQUEMENT sur les extraits, en citant les documents sources.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343400"/>
            <a:ext cx="11548872" cy="1874519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80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C9A227"/>
                </a:solidFill>
                <a:latin typeface="Calibri"/>
              </a:defRPr>
            </a:pPr>
            <a:r>
              <a:t>PROMPT RAG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74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« Réponds UNIQUEMENT à partir des extraits ci-dessous.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Si l'information n'y figure pas : "Information introuvable."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Extraits : &lt;&lt;&lt;doc1&gt;&gt;&gt; &lt;&lt;&lt;doc2&gt;&gt;&gt;   Question : ...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200 mots max, cite tes sources. 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Évaluation et optimisation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Un prompt « qui marche une fois » peut échouer ailleurs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Mesurer, comparer (A/B), itérer, versionner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Grille : pertinence, format, hallucination, délai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10 · Évaluation et optimisation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Évaluer et optimiser ses prompts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675887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34015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POURQUOI ÉVALUER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645920"/>
            <a:ext cx="3675887" cy="4434840"/>
          </a:xfrm>
          <a:prstGeom prst="roundRect">
            <a:avLst>
              <a:gd name="adj" fmla="val 5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28800"/>
            <a:ext cx="3273551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Un prompt qui marche sur un exemple peut échouer sur 30 % des entrées réelles.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Évaluer = mesurer de façon reproductible avant de déployer.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19" y="1097280"/>
            <a:ext cx="3675887" cy="54864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097280"/>
            <a:ext cx="34015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MESURER LA QUALITÉ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19" y="1645920"/>
            <a:ext cx="3675887" cy="443484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1828800"/>
            <a:ext cx="3273551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Critères : exactitude, exhaustivité, format, ton, absence d'hallucination.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Méthodes : grille manuelle, jeu de test fixe, LLM-as-judge, F1.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998" y="1097280"/>
            <a:ext cx="3675887" cy="5486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8" y="1097280"/>
            <a:ext cx="34015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OPTIMISATION ITÉRATIVE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0998" y="1645920"/>
            <a:ext cx="3675887" cy="4434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6" y="1828800"/>
            <a:ext cx="3273551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Boucle : écrire → tester même échantillon → catégoriser → corriger → re-tester.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A/B : 2 prompts sur les MÊMES entrées.</a:t>
            </a:r>
          </a:p>
          <a:p>
            <a:pPr algn="l">
              <a:defRPr sz="1350" b="0" i="0">
                <a:solidFill>
                  <a:srgbClr val="22324A"/>
                </a:solidFill>
                <a:latin typeface="Calibri"/>
              </a:defRPr>
            </a:pPr>
            <a:r>
              <a:t>Versionner v1, v2…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897880"/>
            <a:ext cx="11548872" cy="475488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Exemple de grille : Pertinence 1-5 · Format conforme O/N · Hallucination O/N · Délai de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Limites et risques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Hallucinations, ambiguïté, biais, confidentialité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Injection de prompt et jailbreak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Le PE réduit les risques, la supervision les gère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11 · Limites et risques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Les risques et leurs parades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3675887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5156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HALLUCINATION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508760"/>
            <a:ext cx="3675887" cy="1920240"/>
          </a:xfrm>
          <a:prstGeom prst="roundRect">
            <a:avLst>
              <a:gd name="adj" fmla="val 9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55064"/>
            <a:ext cx="3310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Fait faux présenté avec assurance.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24328"/>
            <a:ext cx="33101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 i="0">
                <a:solidFill>
                  <a:srgbClr val="5A6B7E"/>
                </a:solidFill>
                <a:latin typeface="Calibri"/>
              </a:defRPr>
            </a:pPr>
            <a:r>
              <a:t>→ RAG + citations + relecture humaine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19" y="1051560"/>
            <a:ext cx="3675887" cy="4572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19" y="105156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AMBIGUÏTÉ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19" y="1508760"/>
            <a:ext cx="3675887" cy="1920240"/>
          </a:xfrm>
          <a:prstGeom prst="roundRect">
            <a:avLst>
              <a:gd name="adj" fmla="val 9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1655064"/>
            <a:ext cx="3310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Prompt flou → réponse au hasard.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624328"/>
            <a:ext cx="33101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 i="0">
                <a:solidFill>
                  <a:srgbClr val="5A6B7E"/>
                </a:solidFill>
                <a:latin typeface="Calibri"/>
              </a:defRPr>
            </a:pPr>
            <a:r>
              <a:t>→ Préciser, reformuler, tester 2 versions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998" y="1051560"/>
            <a:ext cx="3675887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0998" y="1051560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BIAIS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0998" y="1508760"/>
            <a:ext cx="3675887" cy="19202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8" y="1655064"/>
            <a:ext cx="3310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Stéréotypes des données d'entraînement.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2624328"/>
            <a:ext cx="33101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 i="0">
                <a:solidFill>
                  <a:srgbClr val="5A6B7E"/>
                </a:solidFill>
                <a:latin typeface="Calibri"/>
              </a:defRPr>
            </a:pPr>
            <a:r>
              <a:t>→ Prompts neutres, cas sensibles, relecture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75304"/>
            <a:ext cx="3675887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575304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CONFIDENTIALITÉ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032504"/>
            <a:ext cx="3675887" cy="1920240"/>
          </a:xfrm>
          <a:prstGeom prst="roundRect">
            <a:avLst>
              <a:gd name="adj" fmla="val 9000"/>
            </a:avLst>
          </a:prstGeom>
          <a:solidFill>
            <a:srgbClr val="EDD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78808"/>
            <a:ext cx="3310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Données envoyées stockées chez le fournisseur.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148072"/>
            <a:ext cx="33101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 i="0">
                <a:solidFill>
                  <a:srgbClr val="5A6B7E"/>
                </a:solidFill>
                <a:latin typeface="Calibri"/>
              </a:defRPr>
            </a:pPr>
            <a:r>
              <a:t>→ Anonymiser, ne jamais envoyer de données sensibles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19" y="3575304"/>
            <a:ext cx="3675887" cy="457200"/>
          </a:xfrm>
          <a:prstGeom prst="rect">
            <a:avLst/>
          </a:prstGeom>
          <a:solidFill>
            <a:srgbClr val="2C6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19" y="3575304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INJECTION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19" y="4032504"/>
            <a:ext cx="3675887" cy="1920240"/>
          </a:xfrm>
          <a:prstGeom prst="roundRect">
            <a:avLst>
              <a:gd name="adj" fmla="val 9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399" y="4178808"/>
            <a:ext cx="3310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Données qui réécrivent les instructions.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5148072"/>
            <a:ext cx="33101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 i="0">
                <a:solidFill>
                  <a:srgbClr val="5A6B7E"/>
                </a:solidFill>
                <a:latin typeface="Calibri"/>
              </a:defRPr>
            </a:pPr>
            <a:r>
              <a:t>→ Séparer instructions / données, valider la sortie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998" y="3575304"/>
            <a:ext cx="3675887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998" y="3575304"/>
            <a:ext cx="36758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JAILBREAK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0998" y="4032504"/>
            <a:ext cx="3675887" cy="192024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8" y="4178808"/>
            <a:ext cx="3310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Contournement des garde-fous de sécurité.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8" y="5148072"/>
            <a:ext cx="33101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 i="0">
                <a:solidFill>
                  <a:srgbClr val="5A6B7E"/>
                </a:solidFill>
                <a:latin typeface="Calibri"/>
              </a:defRPr>
            </a:pPr>
            <a:r>
              <a:t>→ Filtres, supervision, mises à jour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989320"/>
            <a:ext cx="11548872" cy="411480"/>
          </a:xfrm>
          <a:prstGeom prst="roundRect">
            <a:avLst>
              <a:gd name="adj" fmla="val 12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Le prompt engineering réduit les risques, la supervision humaine les gère.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noFill/>
          <a:ln w="1905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noFill/>
          <a:ln w="25400">
            <a:solidFill>
              <a:srgbClr val="1A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914400"/>
            <a:ext cx="914400" cy="9144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914400"/>
            <a:ext cx="914400" cy="9144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914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3800" b="0" i="0">
                <a:solidFill>
                  <a:srgbClr val="EDDDB0"/>
                </a:solidFill>
                <a:latin typeface="Calibri"/>
              </a:defRPr>
            </a:pPr>
            <a:r>
              <a:t>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Références et 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08960"/>
            <a:ext cx="219456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387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OpenAI, Anthropic, Google, Microsoft, DAIR AI, OWASP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776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Articles scientifiques : CoT, ReAct, RAG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600" b="0" i="0">
                <a:solidFill>
                  <a:srgbClr val="DDEAF4"/>
                </a:solidFill>
                <a:latin typeface="Calibri"/>
              </a:defRPr>
            </a:pPr>
            <a:r>
              <a:t>3 cheat sheets téléchargées dans le dossier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00" b="0" i="0">
                <a:solidFill>
                  <a:srgbClr val="DDEAF4"/>
                </a:solidFill>
                <a:latin typeface="Calibri"/>
              </a:defRPr>
            </a:pPr>
            <a:r>
              <a:t>P1IA · Groupe 1 · Section 12 · Références et conclusion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28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28016"/>
            <a:ext cx="457200" cy="4572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0" i="0">
                <a:solidFill>
                  <a:srgbClr val="EDDDB0"/>
                </a:solidFill>
                <a:latin typeface="Calibri"/>
              </a:defRPr>
            </a:pPr>
            <a:r>
              <a:t>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801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Références et conclusion</a:t>
            </a:r>
          </a:p>
        </p:txBody>
      </p:sp>
      <p:sp>
        <p:nvSpPr>
          <p:cNvPr id="9" name="Oval 8"/>
          <p:cNvSpPr/>
          <p:nvPr/>
        </p:nvSpPr>
        <p:spPr>
          <a:xfrm>
            <a:off x="11430000" y="-320040"/>
            <a:ext cx="1371600" cy="1371600"/>
          </a:xfrm>
          <a:prstGeom prst="ellipse">
            <a:avLst/>
          </a:prstGeom>
          <a:solidFill>
            <a:srgbClr val="1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41148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88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C9A227"/>
                </a:solidFill>
                <a:latin typeface="Calibri"/>
              </a:defRPr>
            </a:pPr>
            <a:r>
              <a:t>SOURCES DIRECTES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2120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OpenAI · platform.openai.com/docs/guides/prompt-engineering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Anthropic · docs.anthropic.com (PE Overview)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Google · ai.google.dev/gemini-api/docs/prompting-intro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DAIR AI · promptingguide.ai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Microsoft · learn.microsoft.com (PE best practices)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CoT (Wei et al., 2022) · arxiv.org/abs/2201.11903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ReAct (Yao et al., 2022) · arxiv.org/abs/2210.03629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RAG (Lewis et al., 2020) · arxiv.org/abs/2005.11401</a:t>
            </a:r>
          </a:p>
          <a:p>
            <a:pPr algn="l">
              <a:defRPr sz="1250" b="0" i="0">
                <a:solidFill>
                  <a:srgbClr val="22324A"/>
                </a:solidFill>
                <a:latin typeface="Calibri"/>
              </a:defRPr>
            </a:pPr>
            <a:r>
              <a:t>OWASP LLM Top 10 · owasp.org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051560"/>
            <a:ext cx="5669280" cy="41148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188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2C638F"/>
                </a:solidFill>
                <a:latin typeface="Calibri"/>
              </a:defRPr>
            </a:pPr>
            <a:r>
              <a:t>CHEAT SHEETS DU 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645920"/>
            <a:ext cx="52120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3 PDF téléchargés dans 3-cheat-sheets/ :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  · ipwithease.com (formats + types)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  · Google cheat sheet (avril 2025)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  · RPATech (utilisateurs métier)</a:t>
            </a: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</a:p>
          <a:p>
            <a:pPr algn="l">
              <a:defRPr sz="1300" b="0" i="0">
                <a:solidFill>
                  <a:srgbClr val="22324A"/>
                </a:solidFill>
                <a:latin typeface="Calibri"/>
              </a:defRPr>
            </a:pPr>
            <a:r>
              <a:t>+ README_sources.md avec tous les liens.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486400"/>
            <a:ext cx="11548872" cy="822960"/>
          </a:xfrm>
          <a:prstGeom prst="roundRect">
            <a:avLst>
              <a:gd name="adj" fmla="val 7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59552"/>
            <a:ext cx="10972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À RETENIR : Objectif (pourquoi ?) → Syntaxe (comment ?) → Exemple.   Tester, mesurer, versionner.   Supervision humaine sur tout ce qui est critique.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836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 i="0">
                <a:solidFill>
                  <a:srgbClr val="DDEAF4"/>
                </a:solidFill>
                <a:latin typeface="Calibri"/>
              </a:defRPr>
            </a:pPr>
            <a:r>
              <a:t>P1IA · Groupe 1 · Veille Prompt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8368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Diapo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