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13632"/>
            <a:ext cx="12191695" cy="10972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822960"/>
          </a:xfrm>
          <a:prstGeom prst="rect">
            <a:avLst/>
          </a:prstGeom>
          <a:solidFill>
            <a:srgbClr val="24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6000" b="1" i="0">
                <a:solidFill>
                  <a:srgbClr val="FFFFFF"/>
                </a:solidFill>
                <a:latin typeface="Calibri"/>
              </a:defRPr>
            </a:pPr>
            <a:r>
              <a:t>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0" i="0">
                <a:solidFill>
                  <a:srgbClr val="BFD3E6"/>
                </a:solidFill>
                <a:latin typeface="Calibri"/>
              </a:defRPr>
            </a:pPr>
            <a:r>
              <a:t>Mieux rédiger pour mieux générer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 i="0">
                <a:solidFill>
                  <a:srgbClr val="E88B2A"/>
                </a:solidFill>
                <a:latin typeface="Calibri"/>
              </a:defRPr>
            </a:pPr>
            <a:r>
              <a:t>Veille - P1IA - Groupe 1 - Septembre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 i="0">
                <a:solidFill>
                  <a:srgbClr val="BFD3E6"/>
                </a:solidFill>
                <a:latin typeface="Calibri"/>
              </a:defRPr>
            </a:pPr>
            <a:r>
              <a:t>Livrables : PDF de synthèse + 18 diapositives + 3 cheat sheets (dossier du livrable)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56692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109728" cy="521208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7160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1. Prérequis sur les LLM (tokens, contexte, paramètres)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2. Introduction au Prompt Engineering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3. Structure d'un prompt (6 briques)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4. Techniques : zero / one / few-shot, CoT, structuré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5. PE et raisonnement : décomposition, self-check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6. Sorties structurées (JSON, XML, tables, validation)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097280"/>
            <a:ext cx="553212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097280"/>
            <a:ext cx="109728" cy="5212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7. Prompts métier : résumé, trad., classif., code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8. Prompts pour le Machine Learning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9. PE et RAG (recherche + contexte + génération)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10. Évaluation et optimisation des prompts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11. Limites et risques (hallucination, injection, jailbreak)</a:t>
            </a:r>
          </a:p>
          <a:p>
            <a:pPr>
              <a:spcAft>
                <a:spcPts val="1400"/>
              </a:spcAft>
              <a:defRPr sz="1550">
                <a:solidFill>
                  <a:srgbClr val="2B3A4A"/>
                </a:solidFill>
                <a:latin typeface="Calibri"/>
              </a:defRPr>
            </a:pPr>
            <a:r>
              <a:t>✓  12. Références et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Prérequis sur les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3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51560"/>
            <a:ext cx="3108960" cy="31089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835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1051560"/>
            <a:ext cx="8439912" cy="310896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0789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prédit le mot suivant ; entraîné sur des milliards de textes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394460"/>
            <a:ext cx="3108960" cy="310896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1394460"/>
            <a:ext cx="8439912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14218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tout le texte déjà présent (prompt + conversation)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737360"/>
            <a:ext cx="3108960" cy="31089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7693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1737360"/>
            <a:ext cx="8439912" cy="310896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7647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unité de base (100 tokens ≈ 75 mots)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080260"/>
            <a:ext cx="3108960" cy="310896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122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Fenêtre de contexte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2080260"/>
            <a:ext cx="8439912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21076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taille max en tokens (entrée + sortie) ; au-delà : oubli/refus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423160"/>
            <a:ext cx="3108960" cy="31089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4551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Temperature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9000" y="2423160"/>
            <a:ext cx="8439912" cy="310896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880" y="24505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hasard : 0,0-0,3 fiable / répétitif ; 0,7-1,0 créatif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66060"/>
            <a:ext cx="3108960" cy="310896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7980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max tokens / top-p / top-k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29000" y="2766060"/>
            <a:ext cx="8439912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7934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longueur de sortie ; filtres sur les choix probables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108960"/>
            <a:ext cx="3108960" cy="31089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140964"/>
            <a:ext cx="2926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stop sequences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29000" y="3108960"/>
            <a:ext cx="8439912" cy="310896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1880" y="3136392"/>
            <a:ext cx="8138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chaînes qui arrêtent la génération (fin JSON, balise)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0040" y="5870448"/>
            <a:ext cx="11548872" cy="512064"/>
          </a:xfrm>
          <a:prstGeom prst="round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870448"/>
            <a:ext cx="109728" cy="512064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925312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B3A4A"/>
                </a:solidFill>
                <a:latin typeface="Calibri"/>
              </a:defRPr>
            </a:pPr>
            <a:r>
              <a:t>Règle : précision → temperature 0,2 | créativité → 0,8 | toujours assez de max tokens pour finir. Données utiles en premier (fenêtre de contexte).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Introduction au Prompt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4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56692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109728" cy="137160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11556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E88B2A"/>
                </a:solidFill>
                <a:latin typeface="Calibri"/>
              </a:defRPr>
            </a:pPr>
            <a:r>
              <a:t>QU'EST-CE QU'UN PROMPT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463040"/>
            <a:ext cx="5257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L'instruction donnée à l'IA (question, ordre, texte à transformer, contrainte). C'est la seule façon de piloter le modèle.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051560"/>
            <a:ext cx="56692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51560"/>
            <a:ext cx="109728" cy="137160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11556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2C5F8A"/>
                </a:solidFill>
                <a:latin typeface="Calibri"/>
              </a:defRPr>
            </a:pPr>
            <a:r>
              <a:t>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1463040"/>
            <a:ext cx="5257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Discipline qui consiste à concevoir, tester et améliorer des prompts pour des réponses précises, fiables et exploitables.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97480"/>
            <a:ext cx="3675887" cy="45720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2743200"/>
            <a:ext cx="367588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POURQUOI IMPORTANT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154680"/>
            <a:ext cx="3675887" cy="141732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3291840"/>
            <a:ext cx="3346703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Un bon prompt peut doubler la qualité d'une réponse, sans changer de modèle.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19" y="2697480"/>
            <a:ext cx="3675887" cy="45720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0247" y="2743200"/>
            <a:ext cx="367588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TEMPS GAGNÉ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19" y="3154680"/>
            <a:ext cx="3675887" cy="141732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1" y="3291840"/>
            <a:ext cx="3346703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Moins d'aller-retours et de corrections ; résultats exploitables du premier coup.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0998" y="2697480"/>
            <a:ext cx="3675887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726" y="2743200"/>
            <a:ext cx="367588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PASSAGE À L'ÉCHELLE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0998" y="3154680"/>
            <a:ext cx="3675887" cy="141732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5590" y="3291840"/>
            <a:ext cx="3346703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Industrialiser l'IA en métier : formats fixes, automatisation, contrôle.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4846320"/>
            <a:ext cx="115488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846320"/>
            <a:ext cx="109728" cy="123444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E88B2A"/>
                </a:solidFill>
                <a:latin typeface="Calibri"/>
              </a:defRPr>
            </a:pPr>
            <a:r>
              <a:t>MAUVAIS vs BON PROMPT  (même demande, autre résultat)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035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Mauvais : « Résume ce texte. »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Bon : « Tu es un assistant qui rédige pour des cadres pressés. Résume en 5 puces de 30 mots max, chaque puce commence par son mot-clé principal en gras.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Structure d'un prompt  -  les 6 briques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97280"/>
            <a:ext cx="2468880" cy="56692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2286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RÔLE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097280"/>
            <a:ext cx="3200400" cy="566928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143000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Posture du modèle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097280"/>
            <a:ext cx="5879592" cy="566928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143000"/>
            <a:ext cx="5532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Tu es un data analyst sénior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719072"/>
            <a:ext cx="2468880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764792"/>
            <a:ext cx="2286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719072"/>
            <a:ext cx="3200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176479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Situation, public, limites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719072"/>
            <a:ext cx="5879592" cy="566928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1764792"/>
            <a:ext cx="5532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Public : débutants en Excel 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340864"/>
            <a:ext cx="2468880" cy="56692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386584"/>
            <a:ext cx="2286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TÂCHE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2340864"/>
            <a:ext cx="3200400" cy="566928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0" y="2386584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Verbe d'action demandé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340864"/>
            <a:ext cx="5879592" cy="566928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386584"/>
            <a:ext cx="5532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Explique la fonction RECHERCHEV 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2962656"/>
            <a:ext cx="2468880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008376"/>
            <a:ext cx="2286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DONNÉES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88920" y="2962656"/>
            <a:ext cx="3200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0" y="3008376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Texte à traiter, délimité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2962656"/>
            <a:ext cx="5879592" cy="566928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3008376"/>
            <a:ext cx="5532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Texte : &lt;&lt;&lt;document&gt;&gt;&gt; 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584448"/>
            <a:ext cx="2468880" cy="56692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630168"/>
            <a:ext cx="2286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CONTRAINTES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88920" y="3584448"/>
            <a:ext cx="3200400" cy="566928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0" y="3630168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Longueur, ton, langue, interdits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3584448"/>
            <a:ext cx="5879592" cy="566928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3630168"/>
            <a:ext cx="5532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10 lignes max, sans jargon 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206240"/>
            <a:ext cx="2468880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4251960"/>
            <a:ext cx="2286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FORMAT DE SORTIE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8920" y="4206240"/>
            <a:ext cx="3200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0" y="4251960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Structure attendue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4206240"/>
            <a:ext cx="5879592" cy="566928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4251960"/>
            <a:ext cx="5532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Tableau Markdown à 3 colonnes 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0040" y="5870448"/>
            <a:ext cx="11548872" cy="512064"/>
          </a:xfrm>
          <a:prstGeom prst="round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870448"/>
            <a:ext cx="109728" cy="512064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925312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B3A4A"/>
                </a:solidFill>
                <a:latin typeface="Calibri"/>
              </a:defRPr>
            </a:pPr>
            <a:r>
              <a:t>Complet : Tu es un analyste financier → RÔLE | Synthèse pour un PDG non technique → CONTEXTE | Résume ce rapport → TÂCHE | &lt;&lt;&lt;texte&gt;&gt;&gt; → DONNÉES | Max 8 lignes sans jargon → CONTRAINTES | 3 puces + 1 conclusion → FORMAT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Zero-shot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24128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99616"/>
            <a:ext cx="3675887" cy="475488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Tâche simple et bien connue du modèle : aucun exemple nécessaire,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un ordre clair suffit. Rapide et économe en tokens.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24128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499616"/>
            <a:ext cx="3675887" cy="475488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Décrire la tâche au verbe d'action,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puis fournir l'entrée.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  « Fais X sur Y.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24128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499616"/>
            <a:ext cx="3675887" cy="475488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Classe le sentiment de ce commentaire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(positif / négatif / neutre) :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Le produit est arrivé cassé. » »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Sortie attendue : Négatif.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One-shot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7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24128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99616"/>
            <a:ext cx="3675887" cy="475488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Montrer le format attendu avec UN seul exemple :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le modèle copie la structure et le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24128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499616"/>
            <a:ext cx="3675887" cy="475488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Tâche + 1 exemple (entrée -&gt; sortie)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+ nouvelle entrée.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L'exemple sert de moule.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24128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499616"/>
            <a:ext cx="3675887" cy="475488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Convertis un titre de film en emojis.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Exemple : « Jaws » -&gt; [requin][vague]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Titanic » -&gt; ?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-&gt; [bateau][glace][triste]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Few-shot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24128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99616"/>
            <a:ext cx="3675887" cy="475488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2 à 5 exemples apprennent le « schéma »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(format + logique). Très précis sur les tâches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inhabituelles ou nuancées.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24128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499616"/>
            <a:ext cx="3675887" cy="475488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Tâche + série d'exemples A -&gt; B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+ entrée finale terminée par une flèche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pour signaler la suite.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24128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499616"/>
            <a:ext cx="3675887" cy="475488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Classe : Travail / Personnel / Spam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-50% ce week-end ! » -&gt; Spam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Budget Q2 ? » -&gt; Travail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Recette de grand-mère » -&gt;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-&gt; Personnel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Chain-of-Thought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24128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99616"/>
            <a:ext cx="3675887" cy="475488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Forcer le raisonnement étape par étape :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net gain sur le calcul, la logique,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moins d'erreurs de chiffres.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24128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499616"/>
            <a:ext cx="3675887" cy="475488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Ajouter une invitation explicite à raisonner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avant de conclure :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Raisonne étape par étape. »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(Wei et al., 2022)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24128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499616"/>
            <a:ext cx="3675887" cy="475488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Train A part de Paris 9h à 120 km/h.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Train B part de Lyon 9h à 90 km/h.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Distance : 470 km.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Raisonne étape par étape. »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1) t = 470 / (120+90) = 2,24 h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2) rencontre à 11 h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Structured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10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24128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99616"/>
            <a:ext cx="3675887" cy="475488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Sortie contrainte à une structure = exploitable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par un programme (JSON réinjectable,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zéro reformatage).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24128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499616"/>
            <a:ext cx="3675887" cy="475488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Imposer le format dans le prompt, fournir un squelette,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bannir le texte autour :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« Réponds uniquement en JSON. »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Puis valider le JSON par du code.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24128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078992"/>
            <a:ext cx="3401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499616"/>
            <a:ext cx="3675887" cy="475488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82496"/>
            <a:ext cx="3346703" cy="4407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{ "resume": "en 1 phrase",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  "mots_cles": ["3 à 5"],   "tone": "neutre",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  "score": 0.0...1.0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}</a:t>
            </a: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2B3A4A"/>
                </a:solidFill>
                <a:latin typeface="Calibri"/>
              </a:defRPr>
            </a:pPr>
            <a:r>
              <a:t>Niveaux sup : schéma JSON + validation auto.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 et raisonnement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566928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109728" cy="310896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14300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 i="0">
                <a:solidFill>
                  <a:srgbClr val="E88B2A"/>
                </a:solidFill>
                <a:latin typeface="Calibri"/>
              </a:defRPr>
            </a:pPr>
            <a:r>
              <a:t>DÉCOMPOSITION - diviser pour régner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600200"/>
            <a:ext cx="5212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Casser un problème complexe en sous-tâches simples ;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chacune devient fiable, puis on assemble les résultats.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1) extrais produits + prix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2) calcule chaque marge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3) classe par marge décroissante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051560"/>
            <a:ext cx="566928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51560"/>
            <a:ext cx="109728" cy="310896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14300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 i="0">
                <a:solidFill>
                  <a:srgbClr val="2C5F8A"/>
                </a:solidFill>
                <a:latin typeface="Calibri"/>
              </a:defRPr>
            </a:pPr>
            <a:r>
              <a:t>SELF-CHECK - le modèle se relit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600200"/>
            <a:ext cx="5212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Générer, critiquer, corriger :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1) proposer une réponse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2) lister 3 erreurs ou oublis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3) écrire la version corrigée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Variante : critique indépendante puis fusion (double-pass).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4480560"/>
            <a:ext cx="11548872" cy="1280160"/>
          </a:xfrm>
          <a:prstGeom prst="round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80560"/>
            <a:ext cx="109728" cy="128016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B3A4A"/>
                </a:solidFill>
                <a:latin typeface="Calibri"/>
              </a:defRPr>
            </a:pPr>
            <a:r>
              <a:t>Leçon : sur toute tâche à plusieurs étapes, exiger la décomposition AVANT la réponse finale. C'est le cœur d'un raisonnement maîtrisé. Évitez les réponses du premier jet sans vérification.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Sorties structurées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12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188720"/>
            <a:ext cx="3749039" cy="9144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JSON</a:t>
            </a:r>
          </a:p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API, automatisation, bases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188720"/>
            <a:ext cx="7799831" cy="91440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280160"/>
            <a:ext cx="7406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Le code valide : syntaxe, champs obligatoires, types.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194560"/>
            <a:ext cx="3749039" cy="91440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XML</a:t>
            </a:r>
          </a:p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Documents, catalogues, normalisation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194560"/>
            <a:ext cx="7799831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2286000"/>
            <a:ext cx="7406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Le modèle relit face à un schéma de référence.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00400"/>
            <a:ext cx="3749039" cy="9144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Markdown / CSV</a:t>
            </a:r>
          </a:p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Exports Excel, tableaux de bord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3200400"/>
            <a:ext cx="7799831" cy="91440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291840"/>
            <a:ext cx="7406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Nouvel essai avec prompt renforcé si échec.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4206240"/>
            <a:ext cx="115488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206240"/>
            <a:ext cx="109728" cy="1234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Pourquoi structurer ? 1) exploitation automatique directe 2) réponses comparables et testables à la chaîne 3) la structure impose les champs à remplir : moins d'oublis.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Les 3 étapes de validation : parse par code -&gt; relecture par le modèle -&gt; relance ciblée.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Prompts pour les applications métier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13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78992"/>
            <a:ext cx="2103120" cy="71323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12471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RÉSUMÉ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1078992"/>
            <a:ext cx="67665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124712"/>
            <a:ext cx="6446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Résume en 3 puces en gardant les chiffres clés 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078992"/>
            <a:ext cx="2679192" cy="713232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124712"/>
            <a:ext cx="24231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 i="0">
                <a:solidFill>
                  <a:srgbClr val="2B3A4A"/>
                </a:solidFill>
                <a:latin typeface="Calibri"/>
              </a:defRPr>
            </a:pPr>
            <a:r>
              <a:t>longueur + ancrage chiffres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856232"/>
            <a:ext cx="2103120" cy="713232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90195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TRADUCTION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3160" y="1856232"/>
            <a:ext cx="6766560" cy="713232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1901952"/>
            <a:ext cx="6446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Traduis en anglais pro, garde nombres et ponctuation 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856232"/>
            <a:ext cx="2679192" cy="713232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901952"/>
            <a:ext cx="24231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 i="0">
                <a:solidFill>
                  <a:srgbClr val="2B3A4A"/>
                </a:solidFill>
                <a:latin typeface="Calibri"/>
              </a:defRPr>
            </a:pPr>
            <a:r>
              <a:t>registre explicite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633472"/>
            <a:ext cx="2103120" cy="71323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7919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3160" y="2633472"/>
            <a:ext cx="67665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06040" y="2679192"/>
            <a:ext cx="6446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Classe ce ticket : bug / question / feature 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2633472"/>
            <a:ext cx="2679192" cy="713232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679192"/>
            <a:ext cx="24231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 i="0">
                <a:solidFill>
                  <a:srgbClr val="2B3A4A"/>
                </a:solidFill>
                <a:latin typeface="Calibri"/>
              </a:defRPr>
            </a:pPr>
            <a:r>
              <a:t>catégories closes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410712"/>
            <a:ext cx="2103120" cy="713232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45643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EXTRACTION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3160" y="3410712"/>
            <a:ext cx="6766560" cy="713232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6040" y="3456432"/>
            <a:ext cx="6446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Extrais nom, date, montant. Réponds en JSON 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89720" y="3410712"/>
            <a:ext cx="2679192" cy="713232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456432"/>
            <a:ext cx="24231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 i="0">
                <a:solidFill>
                  <a:srgbClr val="2B3A4A"/>
                </a:solidFill>
                <a:latin typeface="Calibri"/>
              </a:defRPr>
            </a:pPr>
            <a:r>
              <a:t>format imposé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187952"/>
            <a:ext cx="2103120" cy="71323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423367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GÉNÉRATION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3160" y="4187952"/>
            <a:ext cx="67665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06040" y="4233672"/>
            <a:ext cx="6446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Mail de relance, 150 mots, ton courtois, date limite + réf 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89720" y="4187952"/>
            <a:ext cx="2679192" cy="713232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4233672"/>
            <a:ext cx="24231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 i="0">
                <a:solidFill>
                  <a:srgbClr val="2B3A4A"/>
                </a:solidFill>
                <a:latin typeface="Calibri"/>
              </a:defRPr>
            </a:pPr>
            <a:r>
              <a:t>public + ton + détails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965192"/>
            <a:ext cx="2103120" cy="713232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501091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3160" y="4965192"/>
            <a:ext cx="6766560" cy="713232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06040" y="5010912"/>
            <a:ext cx="6446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Fonction Python : moyenne d'une liste, docstring, cas vide 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4965192"/>
            <a:ext cx="2679192" cy="713232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5010912"/>
            <a:ext cx="24231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 i="0">
                <a:solidFill>
                  <a:srgbClr val="2B3A4A"/>
                </a:solidFill>
                <a:latin typeface="Calibri"/>
              </a:defRPr>
            </a:pPr>
            <a:r>
              <a:t>spécifications précises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0040" y="5852160"/>
            <a:ext cx="11548872" cy="548640"/>
          </a:xfrm>
          <a:prstGeom prst="round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852160"/>
            <a:ext cx="109728" cy="54864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907024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B3A4A"/>
                </a:solidFill>
                <a:latin typeface="Calibri"/>
              </a:defRPr>
            </a:pPr>
            <a:r>
              <a:t>Règle d'or : préciser public + longueur + ton + format. « Un mail » ≠ « une relance de paiement au fournisseur X, 150 mots, ton courtois, date limite + réf facture 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Prompts pour le Machine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14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51560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097280"/>
            <a:ext cx="3493007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PRÉPARATION DES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27048"/>
            <a:ext cx="3675887" cy="219456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64208"/>
            <a:ext cx="3346703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« Nettoie ce jeu de données : supprime les doublons, corrige les valeurs abérantes, normalise les dates ; rends un tableau des corrections. 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51560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097280"/>
            <a:ext cx="3493007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GÉNÉRATION DE VISUALISATIONS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527048"/>
            <a:ext cx="3675887" cy="219456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64208"/>
            <a:ext cx="3346703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« Code matplotlib d'un histogramme du CA mensuel à partir de ces données, étiquettes en français, 800x500.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51560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38" y="1097280"/>
            <a:ext cx="3493007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SÉLECTION DE MODÈLES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527048"/>
            <a:ext cx="3675887" cy="21945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64208"/>
            <a:ext cx="3346703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« Classification e-mails spam/non-spam, 10 000 exemples : compare 3 familles de modèles et recommande en arbitrant précision / coût / simplicité. 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977639"/>
            <a:ext cx="758952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977639"/>
            <a:ext cx="109728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6908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5F8A"/>
                </a:solidFill>
                <a:latin typeface="Calibri"/>
              </a:defRPr>
            </a:pPr>
            <a:r>
              <a:t>INTERPRÉTATION DES MÉTRIQUES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Matrice de confusion : précision 0,72, rappel 0,88. Que signifie-t-elle en dépistage médical (FP/FN) ? Propose 2 améliorations. 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977639"/>
            <a:ext cx="3703320" cy="1554480"/>
          </a:xfrm>
          <a:prstGeom prst="round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79" y="3977639"/>
            <a:ext cx="109728" cy="155448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40690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E88B2A"/>
                </a:solidFill>
                <a:latin typeface="Calibri"/>
              </a:defRPr>
            </a:pPr>
            <a:r>
              <a:t>ASTUCE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434840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Demandez TOUJOURS le code ET l'explication : exécutable + raisonnement à vérifier.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Prompt Engineering et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15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05840"/>
            <a:ext cx="11548872" cy="685800"/>
          </a:xfrm>
          <a:prstGeom prst="round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78992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2B3A4A"/>
                </a:solidFill>
                <a:latin typeface="Calibri"/>
              </a:defRPr>
            </a:pPr>
            <a:r>
              <a:t>Pourquoi le prompting seul ne suffit pas : le LLM ignore vos documents internes et l'actualité ; sans source, il peut halluciner.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20240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1965960"/>
            <a:ext cx="345643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1. 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395728"/>
            <a:ext cx="3675887" cy="173736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542032"/>
            <a:ext cx="3346703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Indexer la base de documents puis retrouver par similarité les passages pertinents pour la question (retrieval / embeddings).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920240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1965960"/>
            <a:ext cx="345643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2. AUGMENTATION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19" y="2395728"/>
            <a:ext cx="3675887" cy="173736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5111" y="2542032"/>
            <a:ext cx="3346703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Insérer les extraits retenus DANS le prompt, mélangés à l'instruction et à la question.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920240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6" y="1965960"/>
            <a:ext cx="345643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3. GÉNÉRATION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0998" y="2395728"/>
            <a:ext cx="3675887" cy="17373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0" y="2542032"/>
            <a:ext cx="3346703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 i="0">
                <a:solidFill>
                  <a:srgbClr val="2B3A4A"/>
                </a:solidFill>
                <a:latin typeface="Calibri"/>
              </a:defRPr>
            </a:pPr>
            <a:r>
              <a:t>Le modèle répond UNIQUEMENT sur ces extraits, avec citation du ou des documents sources.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" y="4434840"/>
            <a:ext cx="11548872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434840"/>
            <a:ext cx="109728" cy="146304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E88B2A"/>
                </a:solidFill>
                <a:latin typeface="Calibri"/>
              </a:defRPr>
            </a:pPr>
            <a:r>
              <a:t>PROMPT RAG 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9204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« Réponds UNIQUEMENT à partir des extraits ci-dessous. Si l'information absente : "Information introuvable."  Extraits : &lt;&lt;&lt;doc1&gt;&gt;&gt; &lt;&lt;&lt;doc2&gt;&gt;&gt;  Question : ... 200 mots max, cite tes sources.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Évaluation et optimisation des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51560"/>
            <a:ext cx="3675887" cy="47548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097280"/>
            <a:ext cx="345643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POURQUOI ÉVALUER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27048"/>
            <a:ext cx="3675887" cy="4160520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691640"/>
            <a:ext cx="334670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Un prompt qui « marche une fois » peut échouer sur d'autres entrées. Mesurer = comparer en connaissance de cause avant déploiement.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051560"/>
            <a:ext cx="3675887" cy="47548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7" y="1097280"/>
            <a:ext cx="345643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MESURER LA QUALITÉ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19" y="1527048"/>
            <a:ext cx="3675887" cy="4160520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1" y="1691640"/>
            <a:ext cx="334670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Critères : exactitude, exhaustivité, format, ton, absence d'hallucination.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Méthodes : grille manuelle, jeu de test fixe, LLM-as-judge, F1 / concordance.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051560"/>
            <a:ext cx="3675887" cy="47548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0726" y="1097280"/>
            <a:ext cx="345643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OPTIMISATION ITÉRATIVE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8" y="1527048"/>
            <a:ext cx="3675887" cy="416052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691640"/>
            <a:ext cx="334670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Boucle : écrire → tester sur le même échantillon → identifier les erreurs → corriger → re-tester.</a:t>
            </a:r>
          </a:p>
          <a:p>
            <a:pPr algn="l">
              <a:defRPr sz="1350" b="0" i="0">
                <a:solidFill>
                  <a:srgbClr val="2B3A4A"/>
                </a:solidFill>
                <a:latin typeface="Calibri"/>
              </a:defRPr>
            </a:pPr>
            <a:r>
              <a:t>Comparer par A/B sur les MÊMES entrées. Versionner (v1, v2...).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897880"/>
            <a:ext cx="11548872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961888"/>
            <a:ext cx="11155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Exemple de grille : Pertinence 1-5 | Format conforme O/N | Hallucination O/N | Délai de réponse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Limites et risques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17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051560"/>
            <a:ext cx="278892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2606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HALLUCINATION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051560"/>
            <a:ext cx="44805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097280"/>
            <a:ext cx="41605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Fait faux présenté avec assurance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051560"/>
            <a:ext cx="4279392" cy="749808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097280"/>
            <a:ext cx="397763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 i="0">
                <a:solidFill>
                  <a:srgbClr val="2B3A4A"/>
                </a:solidFill>
                <a:latin typeface="Calibri"/>
              </a:defRPr>
            </a:pPr>
            <a:r>
              <a:t>RAG + citations + validation humaine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856232"/>
            <a:ext cx="2788920" cy="74980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901952"/>
            <a:ext cx="2606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AMBIGUÏTÉ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56232"/>
            <a:ext cx="4480560" cy="749808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1901952"/>
            <a:ext cx="41605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Prompt flou -&gt; réponse hasard ou hors-sujet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1856232"/>
            <a:ext cx="4279392" cy="749808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901952"/>
            <a:ext cx="397763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 i="0">
                <a:solidFill>
                  <a:srgbClr val="2B3A4A"/>
                </a:solidFill>
                <a:latin typeface="Calibri"/>
              </a:defRPr>
            </a:pPr>
            <a:r>
              <a:t>Préciser, reformuler, tester 2 versions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660904"/>
            <a:ext cx="2788920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706624"/>
            <a:ext cx="2606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BIAIS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2660904"/>
            <a:ext cx="44805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706624"/>
            <a:ext cx="41605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Stéréotypes des données d'entraînement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0" y="2660904"/>
            <a:ext cx="4279392" cy="749808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706624"/>
            <a:ext cx="397763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 i="0">
                <a:solidFill>
                  <a:srgbClr val="2B3A4A"/>
                </a:solidFill>
                <a:latin typeface="Calibri"/>
              </a:defRPr>
            </a:pPr>
            <a:r>
              <a:t>Prompts neutres, cas sensibles, relecture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465576"/>
            <a:ext cx="278892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511296"/>
            <a:ext cx="2606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CONFIDENTIALITÉ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3465576"/>
            <a:ext cx="4480560" cy="749808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0" y="3511296"/>
            <a:ext cx="41605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Données envoyées possiblement stockées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3465576"/>
            <a:ext cx="4279392" cy="749808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11296"/>
            <a:ext cx="397763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 i="0">
                <a:solidFill>
                  <a:srgbClr val="2B3A4A"/>
                </a:solidFill>
                <a:latin typeface="Calibri"/>
              </a:defRPr>
            </a:pPr>
            <a:r>
              <a:t>Ne pas envoyer de données sensibles ; anonymiser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270248"/>
            <a:ext cx="2788920" cy="74980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315968"/>
            <a:ext cx="2606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INJECTION DE PROMPT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4270248"/>
            <a:ext cx="44805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315968"/>
            <a:ext cx="41605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Des données utilisateur détournent les instructions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4270248"/>
            <a:ext cx="4279392" cy="749808"/>
          </a:xfrm>
          <a:prstGeom prst="rect">
            <a:avLst/>
          </a:prstGeom>
          <a:solidFill>
            <a:srgbClr val="BF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4315968"/>
            <a:ext cx="397763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 i="0">
                <a:solidFill>
                  <a:srgbClr val="2B3A4A"/>
                </a:solidFill>
                <a:latin typeface="Calibri"/>
              </a:defRPr>
            </a:pPr>
            <a:r>
              <a:t>Séparer instructions / données ; filtres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074920"/>
            <a:ext cx="2788920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2606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</a:defRPr>
            </a:pPr>
            <a:r>
              <a:t>JAILBREAK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5074920"/>
            <a:ext cx="4480560" cy="749808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5120640"/>
            <a:ext cx="41605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Contournement des garde-fous de sécurité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89520" y="5074920"/>
            <a:ext cx="4279392" cy="749808"/>
          </a:xfrm>
          <a:prstGeom prst="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5120640"/>
            <a:ext cx="397763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 i="0">
                <a:solidFill>
                  <a:srgbClr val="2B3A4A"/>
                </a:solidFill>
                <a:latin typeface="Calibri"/>
              </a:defRPr>
            </a:pPr>
            <a:r>
              <a:t>Filtres de sortie, supervision, mises à jour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0040" y="5897880"/>
            <a:ext cx="11548872" cy="502920"/>
          </a:xfrm>
          <a:prstGeom prst="roundRect">
            <a:avLst/>
          </a:prstGeom>
          <a:solidFill>
            <a:srgbClr val="FF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897880"/>
            <a:ext cx="109728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952744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B3A4A"/>
                </a:solidFill>
                <a:latin typeface="Calibri"/>
              </a:defRPr>
            </a:pPr>
            <a:r>
              <a:t>Le prompt engineering ne supprime pas les risques, il les réduit : supervision humaine obligatoire sur toute décision importante.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7498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11045952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"/>
            <a:ext cx="1143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Références et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12191695" cy="64008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 i="0">
                <a:solidFill>
                  <a:srgbClr val="BFD3E6"/>
                </a:solidFill>
                <a:latin typeface="Calibri"/>
              </a:defRPr>
            </a:pPr>
            <a:r>
              <a:t>P1IA - Groupe 1  |  Veille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2881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Diapo 18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5669280" cy="397763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109728" cy="39776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1430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2C5F8A"/>
                </a:solidFill>
                <a:latin typeface="Calibri"/>
              </a:defRPr>
            </a:pPr>
            <a:r>
              <a:t>SOURCES DIRECTES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554480"/>
            <a:ext cx="52120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OpenAI : platform.openai.com/docs/guides/prompt-engineering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Anthropic : docs.anthropic.com (PE Overview)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Google/Gemini : ai.google.dev/gemini-api/docs/prompting-intro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DAIR AI : promptingguide.ai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Microsoft Azure : learn.microsoft.com (PE best practices)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CoT (Wei et al. 2022) : arxiv.org/abs/2201.11903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RAG (Lewis et al. 2020) : arxiv.org/abs/2005.11401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051560"/>
            <a:ext cx="5669280" cy="397763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51560"/>
            <a:ext cx="109728" cy="3977639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1430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 i="0">
                <a:solidFill>
                  <a:srgbClr val="E88B2A"/>
                </a:solidFill>
                <a:latin typeface="Calibri"/>
              </a:defRPr>
            </a:pPr>
            <a:r>
              <a:t>CHEAT SHEETS (dossier livrable)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554480"/>
            <a:ext cx="52120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3 PDF téléchargés dans 3-cheat-sheets/ :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 • ipwithease.com (formats + types de prompting)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 • Google cheat sheet (avril 2025)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 • RPATech (utilisateurs métier)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+ README_sources.md avec tous les liens.</a:t>
            </a: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</a:p>
          <a:p>
            <a:pPr algn="l">
              <a:defRPr sz="1250" b="0" i="0">
                <a:solidFill>
                  <a:srgbClr val="2B3A4A"/>
                </a:solidFill>
                <a:latin typeface="Calibri"/>
              </a:defRPr>
            </a:pPr>
            <a:r>
              <a:t>Structuration : synthèse PDF détaillée en 1-synthese/.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212080"/>
            <a:ext cx="11548872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À RETENIR : Objectif (pourquoi ?) → Syntaxe (comment ?) → Exemple. Tester, mesurer, versionner. Supervision humaine sur tout ce qui est critique.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